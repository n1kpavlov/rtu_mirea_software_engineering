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9" r:id="rId3"/>
    <p:sldId id="270" r:id="rId4"/>
    <p:sldId id="26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8FAA9C-6FE9-DED2-3B96-AC93927E7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337C5B6-A167-D760-4A22-E62737889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BBBEBB-ED18-3FC0-26DA-5758D3049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30C5F8-677F-174F-2974-375324D8A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E01466-7132-9839-C4FE-60D0AEE2B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3694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27E80-F326-AB4F-3E7D-637D51C7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320499-930A-C029-A025-7D1B800B0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450829-53C0-81FA-4AE1-B169520BC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C484AB-41FA-B581-DD4F-9272C930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AE1295-FB11-4D52-16D6-F506C7CDD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479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70EE7-DD08-04F3-CB8A-806DCBA1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48AE03-41F7-7D13-28C0-74CBCEB9B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841F3E-DC11-DD40-7FBE-67FB3029C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4A2284-2510-3EFD-5606-04CCADAC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78EED6-DA4C-D3F0-1BA5-760E39D6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051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D4FB0-66FB-AE85-1C47-4E51429EB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31707B-D321-17AC-F7D6-CF5734660A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4D2A7D-70AE-B9C0-6C73-0B5DB64AB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B46C9F-8293-F8FE-155E-B0A0BE18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919D77-E1AA-19EE-E6CD-4658BD532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1213E3-BC80-4879-9576-915BF2F50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661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BEF89D-FE01-15E4-092C-D558CBFC9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E56C66-9387-E2FB-096C-3A78B5278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E8AA70-2D22-28D6-5E5C-A6C58835B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0BC58D-B669-8F81-74AB-A2C73D0ED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EA4F5A-009A-AABD-35F8-E31070231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F21F4D2-4C6A-78B5-4885-5CB4D14CC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D03F333-6C07-1871-89D3-91C42F71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31B65BD-CD40-DED1-F0AD-7230420A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739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8681B8-96A0-860C-334D-304F86FF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60450F0-C42B-A6E1-A03C-3E82FA4EF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6FF329-0910-665E-0284-67A92D56A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D2C57E-2924-43B5-655C-A9424607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4803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E440638-7A4C-6B1C-4E43-6D7CD35CC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FE202E2-B27C-6F1A-BBAF-FE731523C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DA94E0-92E8-0424-5212-34AEBBD08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74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001B5-31AA-97E2-F2A2-675200C9F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5EBE42-4C21-A8E5-ABD9-9CF9C4770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61E8D7-7F44-1ED4-FFC2-2296F6381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B3B458-F543-3557-8082-99EBEDB80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DE7043-953C-B5F2-BC64-3C4BD738B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4016B8-7866-8C3A-74C2-C8506012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2384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292AF5-E86F-4023-9B60-18A4ADF4C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5AA64BA-E61E-52DD-9CD4-B2A5D6B0AE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1F69AC-EB6F-E840-85F1-0010D0AA8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B4BB73-177C-8D44-D6FD-CC564CA8F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FE9BDD-0059-202A-1933-2378EFFD2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4F8733-D68E-1E57-8315-2CB899EB9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27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7E107-1977-2613-221B-F1CF21572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DF9F793-F633-8E50-EC74-BDE5586BB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DD5D20-A76F-4D88-50D9-9DE5C2963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E46CFB-F57B-868A-CF5F-B4C7B4C61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C530FC-ED26-75A1-E464-1C23454B8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62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F32431C-88AD-B3FE-1229-0F4EAE980C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D53C53B-60A1-4ED5-D544-5A3212EE6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B68BBC-018B-0810-C437-8B3E19824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1D5E96-B89E-4CD6-AAAC-59D9954C1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F652AD-0443-4B38-31EA-4793DD0E1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643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9D0654-69A2-3F40-85A8-2013CDF788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8393" y="518173"/>
            <a:ext cx="4295579" cy="864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2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50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5" orient="horz" pos="867">
          <p15:clr>
            <a:srgbClr val="FBAE40"/>
          </p15:clr>
        </p15:guide>
        <p15:guide id="29" orient="horz" pos="3997">
          <p15:clr>
            <a:srgbClr val="FBAE40"/>
          </p15:clr>
        </p15:guide>
        <p15:guide id="40" pos="370">
          <p15:clr>
            <a:srgbClr val="FBAE40"/>
          </p15:clr>
        </p15:guide>
        <p15:guide id="46" pos="5541">
          <p15:clr>
            <a:srgbClr val="FBAE40"/>
          </p15:clr>
        </p15:guide>
        <p15:guide id="52" pos="7310">
          <p15:clr>
            <a:srgbClr val="FBAE40"/>
          </p15:clr>
        </p15:guide>
        <p15:guide id="53" orient="horz" pos="3861">
          <p15:clr>
            <a:srgbClr val="FBAE40"/>
          </p15:clr>
        </p15:guide>
        <p15:guide id="54" orient="horz" pos="3725">
          <p15:clr>
            <a:srgbClr val="FBAE40"/>
          </p15:clr>
        </p15:guide>
        <p15:guide id="55" orient="horz" pos="3589">
          <p15:clr>
            <a:srgbClr val="FBAE40"/>
          </p15:clr>
        </p15:guide>
        <p15:guide id="56" orient="horz" pos="3453">
          <p15:clr>
            <a:srgbClr val="FBAE40"/>
          </p15:clr>
        </p15:guide>
        <p15:guide id="57" orient="horz" pos="3317">
          <p15:clr>
            <a:srgbClr val="FBAE40"/>
          </p15:clr>
        </p15:guide>
        <p15:guide id="58" orient="horz" pos="3181">
          <p15:clr>
            <a:srgbClr val="FBAE40"/>
          </p15:clr>
        </p15:guide>
        <p15:guide id="59" orient="horz" pos="3045">
          <p15:clr>
            <a:srgbClr val="FBAE40"/>
          </p15:clr>
        </p15:guide>
        <p15:guide id="60" orient="horz" pos="2908">
          <p15:clr>
            <a:srgbClr val="FBAE40"/>
          </p15:clr>
        </p15:guide>
        <p15:guide id="61" pos="3772">
          <p15:clr>
            <a:srgbClr val="FBAE40"/>
          </p15:clr>
        </p15:guide>
        <p15:guide id="62" pos="436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77000"/>
                <a:lumOff val="23000"/>
              </a:schemeClr>
            </a:gs>
            <a:gs pos="30000">
              <a:srgbClr val="3C5F9B"/>
            </a:gs>
            <a:gs pos="7000">
              <a:srgbClr val="4D70AD"/>
            </a:gs>
            <a:gs pos="42000">
              <a:schemeClr val="accent1">
                <a:lumMod val="59000"/>
              </a:schemeClr>
            </a:gs>
          </a:gsLst>
          <a:lin ang="12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D6E191-13B6-BA47-3CD6-1F11E03D3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8E920B-4758-3C91-5FD3-BC94F388B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31C09C-B73B-5831-6DFA-D20E997FCC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7CFF-62B1-4B7F-BCB1-83EA0F584D4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0AD3AE-1861-4B8C-A4BD-284A533C0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E6666-D0FB-8D4B-25A1-4FD7B4AC8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438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/>
          <p:nvPr/>
        </p:nvSpPr>
        <p:spPr bwMode="auto">
          <a:xfrm>
            <a:off x="4530451" y="2755019"/>
            <a:ext cx="8402291" cy="3666681"/>
          </a:xfrm>
          <a:prstGeom prst="rect">
            <a:avLst/>
          </a:prstGeom>
        </p:spPr>
        <p:txBody>
          <a:bodyPr vert="horz" lIns="208414" tIns="71867" rIns="238062" bIns="119032" rtlCol="0" anchor="ctr">
            <a:noAutofit/>
          </a:bodyPr>
          <a:lstStyle/>
          <a:p>
            <a:pPr marL="0" marR="0" lvl="0" indent="0" algn="l" defTabSz="912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7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201567" y="788333"/>
            <a:ext cx="7377793" cy="289974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4800" b="1" dirty="0">
                <a:solidFill>
                  <a:srgbClr val="FFFFFF"/>
                </a:solidFill>
                <a:latin typeface="Arial"/>
                <a:cs typeface="Arial"/>
              </a:rPr>
              <a:t>Оптимизация процесса «</a:t>
            </a:r>
            <a:r>
              <a:rPr kumimoji="0" lang="ru-RU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УИТА</a:t>
            </a:r>
            <a:r>
              <a:rPr lang="ru-RU" sz="4800" b="1" dirty="0">
                <a:solidFill>
                  <a:srgbClr val="FFFFFF"/>
                </a:solidFill>
                <a:latin typeface="Arial"/>
                <a:cs typeface="Arial"/>
              </a:rPr>
              <a:t> - Управление ИТ-архитектурой»</a:t>
            </a:r>
            <a:endParaRPr lang="ru-RU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2" name="Текст 3"/>
          <p:cNvSpPr txBox="1">
            <a:spLocks/>
          </p:cNvSpPr>
          <p:nvPr/>
        </p:nvSpPr>
        <p:spPr>
          <a:xfrm>
            <a:off x="6834002" y="4971835"/>
            <a:ext cx="7601684" cy="290507"/>
          </a:xfrm>
          <a:prstGeom prst="rect">
            <a:avLst/>
          </a:prstGeom>
        </p:spPr>
        <p:txBody>
          <a:bodyPr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710" rtl="0" eaLnBrk="1" fontAlgn="auto" latinLnBrk="0" hangingPunct="1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ru-RU" sz="1797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Текст 4"/>
          <p:cNvSpPr txBox="1">
            <a:spLocks/>
          </p:cNvSpPr>
          <p:nvPr/>
        </p:nvSpPr>
        <p:spPr>
          <a:xfrm>
            <a:off x="508558" y="6063207"/>
            <a:ext cx="7601684" cy="378526"/>
          </a:xfrm>
          <a:prstGeom prst="rect">
            <a:avLst/>
          </a:prstGeom>
        </p:spPr>
        <p:txBody>
          <a:bodyPr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710" rtl="0" eaLnBrk="1" fontAlgn="auto" latinLnBrk="0" hangingPunct="1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ru-RU" sz="159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F2C22-8831-8BD2-DC54-73704B308521}"/>
              </a:ext>
            </a:extLst>
          </p:cNvPr>
          <p:cNvSpPr txBox="1"/>
          <p:nvPr/>
        </p:nvSpPr>
        <p:spPr>
          <a:xfrm>
            <a:off x="277064" y="5929304"/>
            <a:ext cx="6922389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ru-RU">
                <a:solidFill>
                  <a:schemeClr val="bg1"/>
                </a:solidFill>
                <a:latin typeface="Arial"/>
                <a:cs typeface="Arial"/>
              </a:rPr>
              <a:t>Подготовили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: </a:t>
            </a:r>
            <a:r>
              <a:rPr lang="ru-RU" err="1">
                <a:solidFill>
                  <a:schemeClr val="bg1"/>
                </a:solidFill>
                <a:latin typeface="Arial"/>
                <a:cs typeface="Arial"/>
              </a:rPr>
              <a:t>Враженко</a:t>
            </a:r>
            <a:r>
              <a:rPr lang="ru-RU">
                <a:solidFill>
                  <a:schemeClr val="bg1"/>
                </a:solidFill>
                <a:latin typeface="Arial"/>
                <a:cs typeface="Arial"/>
              </a:rPr>
              <a:t> Д.О., Ерхова В.А., Зенцова Е.Д.,</a:t>
            </a:r>
          </a:p>
          <a:p>
            <a:r>
              <a:rPr lang="ru-RU">
                <a:solidFill>
                  <a:schemeClr val="bg1"/>
                </a:solidFill>
                <a:latin typeface="Arial"/>
                <a:cs typeface="Arial"/>
              </a:rPr>
              <a:t>Каушина</a:t>
            </a:r>
            <a:r>
              <a:rPr lang="ru-RU" dirty="0">
                <a:solidFill>
                  <a:schemeClr val="bg1"/>
                </a:solidFill>
                <a:latin typeface="Arial"/>
                <a:cs typeface="Arial"/>
              </a:rPr>
              <a:t> А.В., Павлов НС, Хохряков АЮ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351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10EC16-ABFF-EE4B-F442-B3D92D44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90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EPC «как есть» (Диаграммы событийной цепочки подпроцесса)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6DB950-E76C-743D-20AC-1D818649C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224" y="1494463"/>
            <a:ext cx="2956305" cy="500170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8600B5D-88C3-09D0-F076-46C1229E3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27" y="1001881"/>
            <a:ext cx="2753109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75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10EC16-ABFF-EE4B-F442-B3D92D44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90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EPC «как надо» (Диаграммы событийной цепочки подпроцесса)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1DCF6C-B3AD-C871-8A1F-86D1896A2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16" y="1494463"/>
            <a:ext cx="2955813" cy="516185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401C26-6B00-6E70-6566-07A84089A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193" y="973302"/>
            <a:ext cx="2753109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959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6B8632-9E48-061C-F468-BE72363E0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358" y="-204437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Итоги оптимизации</a:t>
            </a:r>
            <a:endParaRPr lang="ru-RU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024F79C-BCEB-FFC7-5FB3-FDD09794B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55462"/>
              </p:ext>
            </p:extLst>
          </p:nvPr>
        </p:nvGraphicFramePr>
        <p:xfrm>
          <a:off x="753358" y="1027521"/>
          <a:ext cx="10685284" cy="5670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7790">
                  <a:extLst>
                    <a:ext uri="{9D8B030D-6E8A-4147-A177-3AD203B41FA5}">
                      <a16:colId xmlns:a16="http://schemas.microsoft.com/office/drawing/2014/main" val="827811711"/>
                    </a:ext>
                  </a:extLst>
                </a:gridCol>
                <a:gridCol w="3116826">
                  <a:extLst>
                    <a:ext uri="{9D8B030D-6E8A-4147-A177-3AD203B41FA5}">
                      <a16:colId xmlns:a16="http://schemas.microsoft.com/office/drawing/2014/main" val="2038592844"/>
                    </a:ext>
                  </a:extLst>
                </a:gridCol>
                <a:gridCol w="1164702">
                  <a:extLst>
                    <a:ext uri="{9D8B030D-6E8A-4147-A177-3AD203B41FA5}">
                      <a16:colId xmlns:a16="http://schemas.microsoft.com/office/drawing/2014/main" val="2629966507"/>
                    </a:ext>
                  </a:extLst>
                </a:gridCol>
                <a:gridCol w="1520235">
                  <a:extLst>
                    <a:ext uri="{9D8B030D-6E8A-4147-A177-3AD203B41FA5}">
                      <a16:colId xmlns:a16="http://schemas.microsoft.com/office/drawing/2014/main" val="852152925"/>
                    </a:ext>
                  </a:extLst>
                </a:gridCol>
                <a:gridCol w="195915">
                  <a:extLst>
                    <a:ext uri="{9D8B030D-6E8A-4147-A177-3AD203B41FA5}">
                      <a16:colId xmlns:a16="http://schemas.microsoft.com/office/drawing/2014/main" val="2900322552"/>
                    </a:ext>
                  </a:extLst>
                </a:gridCol>
                <a:gridCol w="3749816">
                  <a:extLst>
                    <a:ext uri="{9D8B030D-6E8A-4147-A177-3AD203B41FA5}">
                      <a16:colId xmlns:a16="http://schemas.microsoft.com/office/drawing/2014/main" val="953159447"/>
                    </a:ext>
                  </a:extLst>
                </a:gridCol>
              </a:tblGrid>
              <a:tr h="55909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№ операции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Операция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gridSpan="3"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Продолжительность рабочего времени в человеко-часах</a:t>
                      </a:r>
                      <a:endParaRPr lang="ru-RU" sz="2000"/>
                    </a:p>
                  </a:txBody>
                  <a:tcPr marL="53439" marR="53439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Способ оптимизации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Способ оптимизации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extLst>
                  <a:ext uri="{0D108BD9-81ED-4DB2-BD59-A6C34878D82A}">
                    <a16:rowId xmlns:a16="http://schemas.microsoft.com/office/drawing/2014/main" val="2718759375"/>
                  </a:ext>
                </a:extLst>
              </a:tr>
              <a:tr h="27466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«как есть»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оптимизированная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603468"/>
                  </a:ext>
                </a:extLst>
              </a:tr>
              <a:tr h="20454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Архитектурная экспертиза ИТ-инициатив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extLst>
                  <a:ext uri="{0D108BD9-81ED-4DB2-BD59-A6C34878D82A}">
                    <a16:rowId xmlns:a16="http://schemas.microsoft.com/office/drawing/2014/main" val="2344898935"/>
                  </a:ext>
                </a:extLst>
              </a:tr>
              <a:tr h="7907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Автоматизированные регистрация и первичный анализ заявки на ИТ-инициативу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16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12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Автоматизация операций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extLst>
                  <a:ext uri="{0D108BD9-81ED-4DB2-BD59-A6C34878D82A}">
                    <a16:rowId xmlns:a16="http://schemas.microsoft.com/office/drawing/2014/main" val="3860604684"/>
                  </a:ext>
                </a:extLst>
              </a:tr>
              <a:tr h="5905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2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Назначение экспертов и формирование рабочей группы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Без изменений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extLst>
                  <a:ext uri="{0D108BD9-81ED-4DB2-BD59-A6C34878D82A}">
                    <a16:rowId xmlns:a16="http://schemas.microsoft.com/office/drawing/2014/main" val="342267189"/>
                  </a:ext>
                </a:extLst>
              </a:tr>
              <a:tr h="5905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3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Проведение архитектурной экспертизы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56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56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Без изменений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extLst>
                  <a:ext uri="{0D108BD9-81ED-4DB2-BD59-A6C34878D82A}">
                    <a16:rowId xmlns:a16="http://schemas.microsoft.com/office/drawing/2014/main" val="2308618377"/>
                  </a:ext>
                </a:extLst>
              </a:tr>
              <a:tr h="7907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Согласование и утверждение архитектурного заключения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24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24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Без изменений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extLst>
                  <a:ext uri="{0D108BD9-81ED-4DB2-BD59-A6C34878D82A}">
                    <a16:rowId xmlns:a16="http://schemas.microsoft.com/office/drawing/2014/main" val="1959884428"/>
                  </a:ext>
                </a:extLst>
              </a:tr>
              <a:tr h="11909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5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Автоматизированные фиксация результатов в архитектурном репозитории и информирование участников.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Автоматизация операций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extLst>
                  <a:ext uri="{0D108BD9-81ED-4DB2-BD59-A6C34878D82A}">
                    <a16:rowId xmlns:a16="http://schemas.microsoft.com/office/drawing/2014/main" val="1933602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6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Подготовка метрик для контроля и анализа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Без изменений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extLst>
                  <a:ext uri="{0D108BD9-81ED-4DB2-BD59-A6C34878D82A}">
                    <a16:rowId xmlns:a16="http://schemas.microsoft.com/office/drawing/2014/main" val="612246929"/>
                  </a:ext>
                </a:extLst>
              </a:tr>
              <a:tr h="212338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ИТОГО: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120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110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Экономия: 10 человеко-часов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39" marR="53439" marT="0" marB="0"/>
                </a:tc>
                <a:extLst>
                  <a:ext uri="{0D108BD9-81ED-4DB2-BD59-A6C34878D82A}">
                    <a16:rowId xmlns:a16="http://schemas.microsoft.com/office/drawing/2014/main" val="1813612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1007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153</Words>
  <Application>Microsoft Office PowerPoint</Application>
  <PresentationFormat>Широкоэкранный</PresentationFormat>
  <Paragraphs>47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Презентация PowerPoint</vt:lpstr>
      <vt:lpstr>EPC «как есть» (Диаграммы событийной цепочки подпроцесса)</vt:lpstr>
      <vt:lpstr>EPC «как надо» (Диаграммы событийной цепочки подпроцесса)</vt:lpstr>
      <vt:lpstr>Итоги оптимизации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Khokhriakov</dc:creator>
  <cp:lastModifiedBy>Andrey Khokhriakov</cp:lastModifiedBy>
  <cp:revision>11</cp:revision>
  <dcterms:created xsi:type="dcterms:W3CDTF">2026-04-13T10:52:32Z</dcterms:created>
  <dcterms:modified xsi:type="dcterms:W3CDTF">2026-05-11T10:41:13Z</dcterms:modified>
</cp:coreProperties>
</file>