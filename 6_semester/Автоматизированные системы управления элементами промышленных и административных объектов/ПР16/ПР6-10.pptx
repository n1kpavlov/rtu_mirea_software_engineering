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Tinkoff Sans" panose="02000506050000020004" pitchFamily="2" charset="0"/>
      <p:regular r:id="rId21"/>
      <p:bold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17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2286000"/>
            <a:ext cx="508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для обеспечения инвентарем</a:t>
            </a:r>
            <a:endParaRPr lang="en-US" sz="3000" dirty="0">
              <a:latin typeface="Tinkoff Sans" panose="02000506050000020004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лыжного спорта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88000" y="4318000"/>
            <a:ext cx="508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4699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Итоговая презентация проекта по практическим работам </a:t>
            </a:r>
            <a:r>
              <a:rPr lang="en-US" sz="2000" b="1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ПР6–ПР10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78000" y="5588000"/>
            <a:ext cx="1270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Павлов Н.С. | Группа ИКБО-50-23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РТУ МИРЭА — Российский технологический университет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Институт информационных технологий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Кафедра информационных технологий в атомной энергетике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Дисциплина: АСУ элементами промышленных и административных объектов | ПР16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Москва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Введение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1473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 рамках дисциплины </a:t>
            </a: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«АСУ элементами промышленных и административных объектов»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выполнены практические работы </a:t>
            </a:r>
            <a:r>
              <a:rPr lang="en-US" sz="18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ПР6–ПР10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в ходе которых разработан программный модуль прогнозирования, спроектирована база данных, рассчитано техническое обеспечение и развёрнут виртуальный стенд.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Цель этапа — реализация и развёртывание АСУП: от программного кода до работающего стенда.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3683000"/>
            <a:ext cx="2743200" cy="2032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10000"/>
            <a:ext cx="2438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Разработка программного модуля прогнозирования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59200" y="3683000"/>
            <a:ext cx="2743200" cy="2032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8" name="Text 6"/>
          <p:cNvSpPr/>
          <p:nvPr/>
        </p:nvSpPr>
        <p:spPr>
          <a:xfrm>
            <a:off x="3911600" y="3810000"/>
            <a:ext cx="2438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Проектирование базы данных (ER-диаграмма)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56400" y="3683000"/>
            <a:ext cx="2743200" cy="2032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0" name="Text 8"/>
          <p:cNvSpPr/>
          <p:nvPr/>
        </p:nvSpPr>
        <p:spPr>
          <a:xfrm>
            <a:off x="6908800" y="3810000"/>
            <a:ext cx="2438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Создание БД в PostgreSQL и заполнение данными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53600" y="3683000"/>
            <a:ext cx="2743200" cy="2032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0" y="3810000"/>
            <a:ext cx="2438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Расчёт технического обеспечения АСУ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750800" y="3683000"/>
            <a:ext cx="2743200" cy="2032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03200" y="3810000"/>
            <a:ext cx="2438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Развёртывание виртуального стенда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Выбор функции и языка программирования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Выбранная функция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Функция 1.7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«Формирование плана закупок на период» (Модуль 1)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Обоснование: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Высокая алгоритмическая сложность (ML, временные ряды)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Сезонность лыжного спорта (авг–окт / ноя–мар / апр–июл)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Экономическая значимость прогнозов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Нет готовых решений для износа лыжного инвентаря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Сравнение языков программирования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964587"/>
              </p:ext>
            </p:extLst>
          </p:nvPr>
        </p:nvGraphicFramePr>
        <p:xfrm>
          <a:off x="8382000" y="1714500"/>
          <a:ext cx="7112000" cy="2540000"/>
        </p:xfrm>
        <a:graphic>
          <a:graphicData uri="http://schemas.openxmlformats.org/drawingml/2006/table">
            <a:tbl>
              <a:tblPr/>
              <a:tblGrid>
                <a:gridCol w="15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Язык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Преимущества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Применимость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Богатая ML-экосистема, быстрая разработка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Специализация на статистике, отличная визуализация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Java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 производительность, интеграция с Spring Boot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Julia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 производительность, математический синтаксис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Низкая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4572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463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Python 3.12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Prophet, statsmodels, scikit-learn для прогнозирования; pandas для ETL; интеграция с Java-бэкендом через REST API; Jupyter Notebook для прототипирования; соответствует архитектуре ПР5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590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6350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1.IS19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Запуск алгоритма расчёта потребности (анализ утверждённых заявок)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1.IS20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Анализ текущих остатков на складе по каждой позиции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1.IS21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Учёт минимальных страховых запасов при расчёте потребности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1.IS22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Генерация проекта плана закупок с группировкой по номенклатуре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Выбор IDE, библиотек и структура модуля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IDE: PyCharm Professional 2026.1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Бесплатная лицензия для студентов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Встроенная поддержка Jupyter Notebook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Интеграция с PostgreSQL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Отладка DataFrame в табличном виде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Автодополнение для pandas, numpy, sklearn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Выбранные библиотеки Python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23934"/>
              </p:ext>
            </p:extLst>
          </p:nvPr>
        </p:nvGraphicFramePr>
        <p:xfrm>
          <a:off x="8382000" y="1714500"/>
          <a:ext cx="7112000" cy="2730504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Библиотека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Версия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pandas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2.2.0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Обработка и анализ данных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numpy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1.26.0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Численные вычисления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statsmodels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0.14.1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Holt-Winters эксп. сглаживание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scikit-learn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1.4.0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Метрики качества прогноза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psycopg2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2.9.9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Подключение к 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sqlalchemy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2.0.25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ORM для работы с БД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joblib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1.3.2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Сериализация моделей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Структура модуля прогнозирования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2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0" name="Text 7"/>
          <p:cNvSpPr/>
          <p:nvPr/>
        </p:nvSpPr>
        <p:spPr>
          <a:xfrm>
            <a:off x="889000" y="539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config.py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Конфигурация БД и прогноза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18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4826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4953000" y="539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database.py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Работа с PostgreSQL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82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8890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6" name="Text 13"/>
          <p:cNvSpPr/>
          <p:nvPr/>
        </p:nvSpPr>
        <p:spPr>
          <a:xfrm>
            <a:off x="9017000" y="539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forecast_model.py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 Holt-Winters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2446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2954000" y="5334000"/>
            <a:ext cx="2540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9" name="Text 16"/>
          <p:cNvSpPr/>
          <p:nvPr/>
        </p:nvSpPr>
        <p:spPr>
          <a:xfrm>
            <a:off x="13081000" y="5397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main.py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и оценка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2000" y="6667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Алгоритм прогнозирования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ExponentialSmoothing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(statsmodels.tsa.holtwinters) — адаптивное экспоненциальное сглаживание с учётом тренда и сезонности. Параметры подбираются автоматически в зависимости от объёма исторических данных: seasonal_periods от 3 до 7, trend/seasonal — по наличию данных. Fallback: при недостатке данных (&lt; 30 точек) используется среднее значение.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Архитектура модуля прогнозирования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Поток выполнения модуля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2159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6" name="Text 4"/>
          <p:cNvSpPr/>
          <p:nvPr/>
        </p:nvSpPr>
        <p:spPr>
          <a:xfrm>
            <a:off x="825500" y="1841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Подключение к PostgreSQL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48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92500" y="1778000"/>
            <a:ext cx="2159000" cy="1016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3556000" y="1841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Загрузка истории расхода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785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2230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1841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Обучение модели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09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9535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5" name="Text 13"/>
          <p:cNvSpPr/>
          <p:nvPr/>
        </p:nvSpPr>
        <p:spPr>
          <a:xfrm>
            <a:off x="9017000" y="1841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Прогноз на 90 дней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2395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6840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1747500" y="18415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Оценка метрик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970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4414500" y="1778000"/>
            <a:ext cx="1079500" cy="101600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0" y="1841500"/>
            <a:ext cx="9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Сохранение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3048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Адаптивные параметры модели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34925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 автоматически выбирает параметры в зависимости от объёма данных: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&lt; 14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seasonal_periods=3, без сезонности и тренда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14–29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seasonal_periods=5, сезонность вкл.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30–59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seasonal_periods=7, сезонность вкл.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≥ 60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seasonal_periods=7, сезонность + тренд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Fallback: при &lt; 30 точек — среднее значение ряда.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82000" y="3048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Метрики качества прогноза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773875"/>
              </p:ext>
            </p:extLst>
          </p:nvPr>
        </p:nvGraphicFramePr>
        <p:xfrm>
          <a:off x="8382000" y="3492500"/>
          <a:ext cx="7112000" cy="2032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Метрика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Описание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Интерпретация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 абс. ошибка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Среднее отклонение в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MAPE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 % ошибка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Точность прогноза в %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RMSE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Кв. корень из MSE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Штраф за большие ошибки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62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Интеграция с АСУП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2000" y="7175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Модуль интегрируется с Java-бэкендом (Spring Boot) через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REST API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или экспорт модели в формат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PMML/ONNX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. Обученная модель сохраняется с помощью joblib и может быть загружена для повторного использования без переобучения. Логирование процесса прогнозирования выполняется через loguru.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Классы пользователей и их свойства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Абстрактный класс «Пользователь»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Базовый класс с общими свойствами: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ФИО, Email, Телефон, Логин, ПарольHash, Роль, ДатаРегистрации, Активен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. Методы: Авторизоваться(), СменитьПароль().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 ролей пользователей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53688"/>
              </p:ext>
            </p:extLst>
          </p:nvPr>
        </p:nvGraphicFramePr>
        <p:xfrm>
          <a:off x="8382000" y="1714500"/>
          <a:ext cx="7112000" cy="34036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Доп. свойства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Ключевые методы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Разряд, ГодРожд, ГруппаID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Просмотр инвентаря, заявки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Тренер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Специализация, Категория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Создание заявок, просмотр остатков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Кладовщик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СкладID, Удостоверение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Приёмка, выдача, инвентаризация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Менеджер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Отдел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Формирование плана закупок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Руководитель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Должность, УровеньДоступа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Утверждение бюджета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Бухгалтер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Участок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Формирование ОСВ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Администратор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УровеньПрав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Создание пользователей, роли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20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Структура классов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651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16 классов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пакетах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связями: наследование, ассоциация, композиция.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«Пользователи»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(8 классов): Пользователь (абстрактный) → Спортсмен, Тренер, Кладовщик, МенеджерПоЗакупкам, Руководитель, Бухгалтер, Администратор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«Закупки и планирование»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(5 классов): ЗаявкаНаИнвентарь, ПозицияЗаявки, ЗаказПоставщику, Поставщик, Номенклатура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«Склад и учёт»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(3 класса): ЕдиницаИнвентаря, ВыдачаИнвентаря, ПриходнаяНакладная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Классы предметной области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«Закупки и планирование»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633160"/>
              </p:ext>
            </p:extLst>
          </p:nvPr>
        </p:nvGraphicFramePr>
        <p:xfrm>
          <a:off x="762000" y="1714500"/>
          <a:ext cx="7112000" cy="3175002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Класс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Ключевые свойства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Связи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ЗаявкаНаИнвентарь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Номер, Дата, Статус, Автор, Сумма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1→* ПозицияЗаявки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ПозицияЗаявки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ЗаявкаID, НоменклатураID, Кол-во, Цена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*→1 Номенклатура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ЗаказПоставщику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Номер, Дата, Статус, Поставщик, Сумма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*→1 Поставщик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Поставщик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ИНН, КПП, Рейтинг, КонтактноеЛицо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1→* ЗаказПоставщику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Номенклатура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Артикул, Категория, МинОстаток, СрокСлужбы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1→* ЕдиницаИнвентаря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«Склад и учёт»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153833"/>
              </p:ext>
            </p:extLst>
          </p:nvPr>
        </p:nvGraphicFramePr>
        <p:xfrm>
          <a:off x="8382000" y="1714500"/>
          <a:ext cx="7112000" cy="2159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Класс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Ключевые свойства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Связи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ЕдиницаИнвентаря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Штрихкод, СерийныйНомер, Статус, Размер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1→* ВыдачаИнвентаря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ВыдачаИнвентаря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ЕдиницаID, СпортсменID, ДатаВыдачи, ДатаВозврата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*→1 Единица, 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ПриходнаяНакладная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Номер, Дата, ЗаказID, КладовщикID, Сумма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*→1 ЗаказПоставщику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Ключевые связи между классами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" y="57785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Наследование: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Пользователь → 7 ролей (1 уровень наследования)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Композиция: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ЗаявкаНаИнвентарь → ПозицияЗаявки (1→1..*)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382000" y="57785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Ассоциации: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ПозицияЗаявки → Номенклатура (*→1)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ЗаказПоставщику → Поставщик (*→1)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ЗаказПоставщику → Менеджер (*→1)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ВыдачаИнвентаря → ЕдиницаИнвентаря (*→1)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ВыдачаИнвентаря → Спортсмен (*→1)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ПриходнаяНакладная → Заказ (*→1)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ER-диаграмма базы данных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19 таблиц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 логических группах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связями 1:1, 1:M, M:N через внешние ключи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Пользователи (8)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222500"/>
            <a:ext cx="27432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athlete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coach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storekeeper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purchase_manager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manager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accountant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administrator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592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Справочники (4)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59200" y="2222500"/>
            <a:ext cx="2743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nomenclature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supplier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warehouse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group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564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Закупки (3)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56400" y="2222500"/>
            <a:ext cx="274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purchase_request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purchase_request_item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purchase_order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Склад (3)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0" y="2222500"/>
            <a:ext cx="274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inventory_item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receipt_invoice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issuance_document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7508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Вспомогат. (1)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750800" y="2222500"/>
            <a:ext cx="274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operation_log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5842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Ключевые связи между таблицами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58522"/>
              </p:ext>
            </p:extLst>
          </p:nvPr>
        </p:nvGraphicFramePr>
        <p:xfrm>
          <a:off x="762000" y="6286500"/>
          <a:ext cx="14732000" cy="2032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Родительская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Дочерняя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Тип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Внешний ключ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ON DELETE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athlete, coach, storekeeper...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*_user_id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athlete, group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*_coach_id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SET NULL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nomenclature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inventory_item, request_item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*_nomenclature_id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RESTRICT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purchase_request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purchase_request_item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*_request_id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8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Выбор и обоснование СУБД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Сравнительный анализ СУБД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210001"/>
              </p:ext>
            </p:extLst>
          </p:nvPr>
        </p:nvGraphicFramePr>
        <p:xfrm>
          <a:off x="762000" y="17145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Критерий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MySQL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MS SQL Server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SQL-стандарты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Высокое (SQL:2016)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Среднее (SQL:2003)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T-SQL (диалект)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JSON/JSONB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Отличная (JSONB + GIN)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Хорошая (JSON)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Репликация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Встроенная, гибкая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Встроенная, огранич.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Always On (Enterprise)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Импортозамещение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 (Postgres Pro)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Стоимость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 / 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Платно / Express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Кроссплатформ.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Linux, Win,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Linux, Win,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Windows, Linux (огр.)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Сообщество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Активное, русскояз.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Огромное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Хорошее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 PostgreSQL 17.5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6032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Импортозамещение (в реестре отечественного ПО), JSONB для аудита, кроссплатформенность (Astra Linux), расширяемость (PostGIS), строгое следование SQL-стандартам, бесплатность.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5" name="Text 7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Создание структуры базы данных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Особенности структуры 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Скрипт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create_tables.sql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создаёт 19 таблиц с ограничениями: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PRIMARY KEY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уникальный идентификатор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FOREIGN KEY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связи между таблицами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CHECK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роли, типы складов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UNIQUE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email, login, артикул, ИНН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NOT NULL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обязательные поля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DEFAULT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NOW(), TRUE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ON DELETE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CASCADE / SET NULL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Таблицы пользователей (пример)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20640"/>
              </p:ext>
            </p:extLst>
          </p:nvPr>
        </p:nvGraphicFramePr>
        <p:xfrm>
          <a:off x="8382000" y="1714500"/>
          <a:ext cx="7112000" cy="2539998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Таблица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Ключ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Связь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ON DELETE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purchase_manager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pm_id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397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JSONB для аудита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842000"/>
            <a:ext cx="1473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Таблица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operation_log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использует тип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JSONB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для поля details — это позволяет гибко хранить произвольные данные аудита (старые и новые значения, контекст операции) без изменения схемы БД. JSONB поддерживает индексы GIN для быстрого поиска по содержимому.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Расширяемость: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PostgreSQL поддерживает расширения — например,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PostGIS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для учёта географии складов и мест проведения соревнований, что может быть полезно для планирования логистики в будущем.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7" name="Text 8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10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Заполнение данными и поисковые запросы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Тестовые данные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Скрипт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insert_data.sql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заполняет БД тестовыми данными: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15 спортсменов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 разрядами и группами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тренера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специализациями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 кладовщика, 2 менеджера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 руководитель, 1 бухгалтер, 1 админ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10 номенклатур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(лыжи, ботинки, палки...)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 поставщиков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 рейтингами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 склада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(основной, резервный)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20+ единиц инвентаря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штрихкодами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Заявки, заказы, накладные, выдачи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Поисковый запрос: должники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0" y="1714500"/>
            <a:ext cx="711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Запрос находит спортсменов с просроченным инвентарём: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JOIN 7 таблиц: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athlete → user (ФИО, контакты)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group (название группы)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coach → user (имя тренера)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issuance_document (выдачи)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inventory_item (штрихкод)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nomenclature (наименование)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Фильтры: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Статус ACTIVE или OVERDUE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planned_return_date &lt; CURRENT_DATE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Агрегация:</a:t>
            </a: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STRING_AGG просроченных items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Результат выполнения запроса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536697"/>
              </p:ext>
            </p:extLst>
          </p:nvPr>
        </p:nvGraphicFramePr>
        <p:xfrm>
          <a:off x="762000" y="5778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Разряд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Группа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Просрочено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Предметы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Иванов И.И.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КМС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Группа 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Лыжи Fischer (SN001), Ботинки Salomon (SN015)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Петров П.П.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разряд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Группа Б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Палки Leki (SN008)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Сидоров С.С.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 разряд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Группа 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3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Лыжи Rossignol (SN003), Крепления (SN012), Очки (SN020)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11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Серверное 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398451"/>
              </p:ext>
            </p:extLst>
          </p:nvPr>
        </p:nvGraphicFramePr>
        <p:xfrm>
          <a:off x="762000" y="1270000"/>
          <a:ext cx="14732000" cy="43180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Параметр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БД и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аналитики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резервного копирования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Процессор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Silver 4310 (12 ядер, 24 потока, 2.1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Silver 4310 (12 ядер, 24 потока, 2.1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E-2336 (6 ядер, 12 потоков, 2.9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GB DDR4 ECC Registered (2×8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GB DDR4 ECC Registered (2×8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 GB DDR4 ECC (2×4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Диски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2×240 GB SSD NVMe,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2×240 GB SSD NVMe,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 TB HDD SATA,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Docker Compose (PostgreSQL + Spring Boot + Nginx)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Python, statsmodels, ClickHouse, BI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Bacula / Veeam Backup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90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Расчёт ресурсов сервера 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6350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ОС (2 GB) + PostgreSQL shared_buffers (2 GB) + work_mem (0.08 GB) + JVM Heap (2 GB) + Nginx (0.2 GB) + Docker (0.5 GB) + запас 20% (1.4 GB)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9.03 GB → 16 GB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CPU: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PostgreSQL (2 ядра) + фоновые процессы (1) + HTTP-запросы (3) + JVM (2) + Nginx (1) + ОС (1) + запас 20% (2)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12 ядер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0" y="6350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Диск: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ОС + Docker (30 GB) + БД 5 лет (1.2 GB) + WAL (1 GB) + логи (3 GB) + JAR (5 GB) + запас 30% (17 GB)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57 GB → 240 GB SSD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DEPO Storm 2400 / Aquarius Server T40, 1U Rackmount, 2×550 Вт БП (горячая замена), 2×1GbE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12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Клиентское 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Автоматизированные рабочие места (АРМ) — 10 шт.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621403"/>
              </p:ext>
            </p:extLst>
          </p:nvPr>
        </p:nvGraphicFramePr>
        <p:xfrm>
          <a:off x="762000" y="1714500"/>
          <a:ext cx="14732000" cy="16764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Спецификация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Количество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Пользователи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ПК (АРМ)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Core i5-12400, 16GB DDR4, 256GB SSD NVMe, 23.8" FHD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10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Менеджеры, кладовщики, тренеры, руководитель, бухгалтер, админ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CE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Модель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DEPO Neos 300 / Aquarius Elt E500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10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556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Мобильные планшеты (3 шт.)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40005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Getac T800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Процессор: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Snapdragon 660 (8 ядер, 2.2 ГГц)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4 GB LPDDR4 |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Память: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64 GB eMMC + microSD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Экран: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8.1" WXGA, 600 нит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Защита: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IP68, MIL-STD-810G (–21°C)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Аккумулятор: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8400 мАч (сменный)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работа тренеров на трассе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82000" y="3556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Терминалы сбора данных (2 шт.)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382000" y="40005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Zebra TC21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Процессор: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Snapdragon 660 (8 ядер, 2.2 ГГц)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4 GB LPDDR4 |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Память: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64 GB eMMC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Сканер: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SE4710 1D/2D imager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Защита: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IP67, падение с 1.5 м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Аккумулятор: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3300 мАч (сменный)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сканирование при приёмке/выдаче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641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Принтер этикеток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Zebra ZD421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Тип печати: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термотрансферная / прямая термопечать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Разрешение: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203 dpi (8 точек/мм)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Ширина печати: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104 мм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Скорость: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152 мм/сек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Интерфейсы: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USB 2.0, Ethernet, Bluetooth 4.1, Wi-Fi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печать штрих-кодов для маркировки единиц инвентаря (~100–200 этикеток/день)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13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Сетевое 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23511"/>
              </p:ext>
            </p:extLst>
          </p:nvPr>
        </p:nvGraphicFramePr>
        <p:xfrm>
          <a:off x="762000" y="1270000"/>
          <a:ext cx="14732000" cy="355599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 err="1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Модель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Характеристики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Количество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Коммутатор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Cisco Catalyst 9300-24T / Eltex MES2324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24×1GbE RJ45, 4×10GbE SFP+, стек, 128 Гбит/с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 шт. (стек)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Межсетевой экран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UserGate C150 / Ideco UTM 150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Гбит/с FW, 500 Мбит/с IPS, 300 Мбит/с VPN, 8GB 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VPN-шлюз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 в NGFW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 10 подключений IPsec/SSL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ИБП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APC Smart-UPS SRT 2200VA / Eaton 5PX 2200i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2200 VA / 1950 Вт, ~15 мин автономности, SNMP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шт. (2U)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20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Расчёт пропускной способности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565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Коммутатор: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Пиковый трафик: 50 пользователей × 5 Мбит/с + бэкапы 100 Мбит/с + межсерверный 100 Мбит/с =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450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Uplink: 10 Гбит/с (с запасом)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0" y="565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NGFW: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Интернет: 50 × 2 Мбит/с = 100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VPN: 5 × 5 Мбит/с = 25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 запасом ×1.5: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187.5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 IPS/IDS: требуется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250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ИБП: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Нагрузка: 880 Вт → 1257 ВА × 1.5 =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1886 ВА → 2200 ВА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14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Сравнение и выбор среды виртуализации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Сравнительный анализ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22025"/>
              </p:ext>
            </p:extLst>
          </p:nvPr>
        </p:nvGraphicFramePr>
        <p:xfrm>
          <a:off x="762000" y="1714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Критерий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Oracle VirtualBox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VMware Workstation Player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Microsoft Hyper-V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Тип гипервизора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2-й тип (на ОС)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2-й тип (на ОС)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1-й тип (на железе)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Макс. vCPU/RAM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32 / 128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/ 64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240 / 12 TB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Снапшоты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 (встроено)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Клонирование ВМ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Кроссплатформ.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Win, Linux,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Win, Linux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Только Windows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Русский язык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Стоимость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397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 VirtualBox 7.0+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5842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Кроссплатформенность (Windows/Linux/macOS), бесплатность (GPL v2), снапшоты, гибкие виртуальные сети (Internal Network), русский язык, поддержка Vagrant. Стенду требуется 6 vCPU / 12 GB RAM — VirtualBox поддерживает до 32 vCPU / 128 GB на ВМ.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15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Проектирование виртуального стенда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Архитектура: 3 ВМ в сети 192.168.56.0/24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865829"/>
              </p:ext>
            </p:extLst>
          </p:nvPr>
        </p:nvGraphicFramePr>
        <p:xfrm>
          <a:off x="762000" y="1714500"/>
          <a:ext cx="14732000" cy="2540000"/>
        </p:xfrm>
        <a:graphic>
          <a:graphicData uri="http://schemas.openxmlformats.org/drawingml/2006/table">
            <a:tbl>
              <a:tblPr/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Размещаемые компоненты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vCPU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Диск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IP-адрес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баз данных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 17 (19 таблиц)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25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192.168.56.10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Spring Boot (модули 1-3), Python/statsmodels, Nginx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25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ВМ3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Клиентская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Chromium (браузер), LibreOffice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20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DHCP (.100+)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63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Сетевые порты и сервисы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79398"/>
              </p:ext>
            </p:extLst>
          </p:nvPr>
        </p:nvGraphicFramePr>
        <p:xfrm>
          <a:off x="762000" y="50800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Размещение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IP-адрес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Порт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192.168.56.10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5432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СУБД (все таблицы АСУ)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Spring Boot API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8080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Бизнес-логика (модули 1-3)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Nginx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Точка входа для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Клиент (браузер)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ВМ3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DHCP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Доступ ко всем функциям АСУ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749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Операционные системы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" y="7937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ВМ1 и ВМ2: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Ubuntu Server 22.04 LTS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| ВМ3: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Ubuntu Desktop 22.04 LTS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| Сеть: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Internal Network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(изолированная, 192.168.56.0/24)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16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Реализация виртуального стенда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27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Последовательность развёртывания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9050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1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Создание ВМ и настройка сети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Static IP: ВМ1/ВМ2, DHCP: ВМ3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80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7625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4889500" y="19050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2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ВМ1: PostgreSQL, создание БД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create_tables.sql + insert_data.sql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185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7630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9050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ВМ2: Java 21, Python, Nginx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модуля прогнозирования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190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763500" y="1841500"/>
            <a:ext cx="2730500" cy="127000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90500" y="190500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4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ВМ3: Chromium, LibreOffice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Проверка доступности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349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Проверка связности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3937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После настройки static IP проведена проверка связи: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ВМ1 → ВМ2: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ВМ2 → ВМ1: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ВМ3 → ВМ1/ВМ2: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82000" y="349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Установка ПО на ВМ2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82000" y="3937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Установлены компоненты: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Nginx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статус active: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Python + библиотеки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(pandas, numpy, statsmodels, sklearn, psycopg2)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main.py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модуль работает корректно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596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Установка ПО на ВМ3 и итоговая проверка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6413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 клиентскую ВМ3 установлены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Chromium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LibreOffice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. Подключение к серверу через веб-браузер подтвердило правильность настройки всех ВМ и локальной сети.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Итог: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виртуальный стенд полностью функционален — БД создана и заполнена, модуль прогнозирования работает, веб-сервер доступен с клиентской машины. Все компоненты АСУ развёрнуты и интегрированы.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элементами промышленных и административных объектов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17 / 18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1524000"/>
            <a:ext cx="508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90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Заключение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88000" y="2857500"/>
            <a:ext cx="5080000" cy="381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302000"/>
            <a:ext cx="1270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 рамках практических работ </a:t>
            </a:r>
            <a:r>
              <a:rPr lang="en-US" sz="18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ПР6–ПР10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выполнено: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разработан модуль прогнозирования потребности (Python, statsmodels, Holt-Winters)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спроектирована база данных (19 таблиц, ER-диаграмма, 16 классов)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создана БД в PostgreSQL 17, заполнена тестовыми данными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рассчитано серверное, клиентское и сетевое оборудование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</a:t>
            </a:r>
            <a:r>
              <a:rPr lang="en-US" sz="18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развёрнут виртуальный стенд (3 ВМ, Ubuntu, полная инфраструктура)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78000" y="7239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Презентация подготовлена в рамках ПР16 по дисциплине «АСУ элементами промышленных и административных объектов»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Павлов Н.С. | ИКБО-50-23 | РТУ МИРЭА |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3265</Words>
  <Application>Microsoft Office PowerPoint</Application>
  <PresentationFormat>Произвольный</PresentationFormat>
  <Paragraphs>661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Tinkoff Sans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АСУ для обеспечения инвентарем лыжного спорта — ПР6–ПР10</dc:title>
  <dc:subject>АСУ для обеспечения инвентарем лыжного спорта — ПР6–ПР10</dc:subject>
  <dc:creator>Kimi</dc:creator>
  <cp:lastModifiedBy>Никита Павлов</cp:lastModifiedBy>
  <cp:revision>2</cp:revision>
  <dcterms:created xsi:type="dcterms:W3CDTF">2026-05-14T07:26:49Z</dcterms:created>
  <dcterms:modified xsi:type="dcterms:W3CDTF">2026-05-14T07:41:59Z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{"Label":"АСУ для обеспечения инвентарем лыжного спорта — ПР6–ПР10","ContentProducer":"001191110108MACG2KBH8F10000","ProduceID":"19e25614-5bd2-851f-8000-0000d276ee89","ReservedCode1":"","ContentPropagator":"001191110108MACG2KBH8F20000","PropagateID":"19e25614-5bd2-851f-8000-0000d276ee89","ReservedCode2":""}</vt:lpwstr>
  </property>
</Properties>
</file>