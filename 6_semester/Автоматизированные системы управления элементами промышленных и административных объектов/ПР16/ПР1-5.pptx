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9144000" cy="16256000"/>
  <p:embeddedFontLst>
    <p:embeddedFont>
      <p:font typeface="Tinkoff Sans" panose="02000506050000020004" pitchFamily="2" charset="0"/>
      <p:regular r:id="rId19"/>
      <p:bold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F14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45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4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38100"/>
          </a:xfrm>
          <a:prstGeom prst="rect">
            <a:avLst/>
          </a:prstGeom>
          <a:gradFill flip="none" rotWithShape="1">
            <a:gsLst>
              <a:gs pos="0">
                <a:srgbClr val="00E5C9">
                  <a:alpha val="0"/>
                </a:srgbClr>
              </a:gs>
              <a:gs pos="30000">
                <a:srgbClr val="00E5C9"/>
              </a:gs>
              <a:gs pos="7000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778000" y="2667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для обеспечения инвентарем</a:t>
            </a:r>
            <a:endParaRPr lang="en-US" sz="4200" dirty="0">
              <a:latin typeface="Tinkoff Sans" panose="02000506050000020004" pitchFamily="2" charset="0"/>
            </a:endParaRPr>
          </a:p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лыжного спорта</a:t>
            </a:r>
            <a:endParaRPr lang="en-US" sz="4200" dirty="0">
              <a:latin typeface="Tinkoff Sans" panose="0200050605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75500" y="4445000"/>
            <a:ext cx="1905000" cy="38100"/>
          </a:xfrm>
          <a:prstGeom prst="rect">
            <a:avLst/>
          </a:prstGeom>
          <a:gradFill flip="none" rotWithShape="1">
            <a:gsLst>
              <a:gs pos="0">
                <a:srgbClr val="00E5C9">
                  <a:alpha val="0"/>
                </a:srgbClr>
              </a:gs>
              <a:gs pos="30000">
                <a:srgbClr val="00E5C9"/>
              </a:gs>
              <a:gs pos="7000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413000" y="47625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Итоговая презентация проекта по практическим работам ПР1–ПР5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83000" y="55880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Павлов Н.С. | Группа ИКБО-50-23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РТУ МИРЭА — Российский технологический университет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Институт информационных технологий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Кафедра информационных технологий в атомной энергетике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48000" y="73660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Дисциплина: АСУ элементами промышленных и административных объектов | ПР16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0" y="7874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Москва 2026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8890000"/>
            <a:ext cx="1016000" cy="254000"/>
          </a:xfrm>
          <a:prstGeom prst="rect">
            <a:avLst/>
          </a:prstGeom>
          <a:solidFill>
            <a:srgbClr val="00E5C9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5240000" y="8890000"/>
            <a:ext cx="1016000" cy="254000"/>
          </a:xfrm>
          <a:prstGeom prst="rect">
            <a:avLst/>
          </a:prstGeom>
          <a:solidFill>
            <a:srgbClr val="00E5C9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Введение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1473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 рамках дисциплины </a:t>
            </a: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«АСУ элементами промышленных и административных объектов»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выполнены практические работы </a:t>
            </a: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ПР1–ПР5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, в ходе которых спроектирована автоматизированная система управления предприятием (АСУП) для обеспечения инвентарем лыжного спорта.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Презентация объединяет результаты всех этапов проектирования: от анализа деятельности организации до выбора технического и программного обеспечения.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Цель проекта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создание комплексной ERP-системы, автоматизирующей процессы закупок, складского учета, выдачи инвентаря спортсменам и формирования отчетности.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5334000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62000" y="5435600"/>
            <a:ext cx="2743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3600" y="5842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Анализ деятельности и концепция АСУП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59200" y="5334000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759200" y="5435600"/>
            <a:ext cx="2743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ПР2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60800" y="5842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Требования к АСУП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56400" y="5334000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756400" y="5435600"/>
            <a:ext cx="2743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5842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Модули, пользователи и функции АСУ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53600" y="5334000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753600" y="5435600"/>
            <a:ext cx="2743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ПР4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855200" y="5842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UML-диаграммы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750800" y="5334000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12750800" y="5435600"/>
            <a:ext cx="2743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ПР5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852400" y="5842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Техническое и программное обеспечение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2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 — Описание организации и бизнес-процессы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Объект автоматизации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904999"/>
            <a:ext cx="6858000" cy="123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Отдел снабжения и логистики спортивной организации (лыжная федерация, спортшкола, прокат), занимающийся обеспечением спортсменов инвентарем.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3473899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Ключевые проблемы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3918399"/>
            <a:ext cx="6858000" cy="219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Дефицит или избыток инвентаря на складе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Срыв сроков поставок поставщиков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Нецелевое использование бюджета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Потеря инвентаря и несвоевременный возврат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Отсутствие актуальной информации об остатках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28000" y="1460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Бизнес-процессы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28000" y="1905000"/>
            <a:ext cx="7366000" cy="2114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Планирование закупок на основе заявок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Взаимодействие с поставщиками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Учет поступления товаров на склад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Контроль остатков и управление запасами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Выдача снаряжения и контроль возврата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28000" y="4508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Пользователи системы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113510"/>
              </p:ext>
            </p:extLst>
          </p:nvPr>
        </p:nvGraphicFramePr>
        <p:xfrm>
          <a:off x="8128000" y="4953000"/>
          <a:ext cx="7366000" cy="2963331"/>
        </p:xfrm>
        <a:graphic>
          <a:graphicData uri="http://schemas.openxmlformats.org/drawingml/2006/table">
            <a:tbl>
              <a:tblPr/>
              <a:tblGrid>
                <a:gridCol w="331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Роль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Функции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Менеджер по закупкам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Заказы, контроль поставок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Кладовщик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Приемка, выдача, учет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Тренер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Заявки на инвентарь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Спортсмен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Личный кабинет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Руководитель / Бухгалтер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Отчеты, бюджет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ru-RU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Администратор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Администрирование системы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945828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3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 — Тип АСУП и техническое оснащение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Тип системы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АСУП класса ERP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(Enterprise Resource Planning) — модульная товароучетная система с элементами планирования ресурсов.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3176774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Основные функции АСУП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3621274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Ведение справочников (спортсмены, снаряжение, поставщики)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Регистрация заявок на снаряжение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Учет движения товаров (приход, расход, перемещение, возврат)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Автоматическое формирование отчетов для бухгалтерии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Контроль исполнения закупок и поставок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Работа в режиме 24/7 с разграничением прав доступа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28000" y="1460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Техническое оснащение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28000" y="1905000"/>
            <a:ext cx="736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Серверное оборудование (БД и приложение)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АРМ специалистов (веб-интерфейс / толстый клиент)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Принтеры этикеток для маркировки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Сканеры штрих-кодов для идентификации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28000" y="4064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Программная часть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28000" y="4508500"/>
            <a:ext cx="7366000" cy="135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Модуль управления закупками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Модуль </a:t>
            </a:r>
            <a:r>
              <a:rPr lang="en-US" sz="1800" dirty="0" err="1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складского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учета</a:t>
            </a:r>
            <a:endParaRPr lang="ru-RU" sz="1800" dirty="0">
              <a:solidFill>
                <a:srgbClr val="E8ECF1"/>
              </a:solidFill>
              <a:latin typeface="Tinkoff Sans" panose="02000506050000020004" pitchFamily="2" charset="0"/>
              <a:ea typeface="QuattrocentoSans" pitchFamily="34" charset="-122"/>
              <a:cs typeface="QuattrocentoSans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 err="1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Модуль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ru-RU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администрирования и отчетности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28000" y="6253721"/>
            <a:ext cx="7366000" cy="635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382000" y="6200556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Режимы: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плановый, ручной, администрирование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4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 — Жизненный цикл и нормативно-правовое обеспечение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Нормативно-правовая база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7084828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ГОСТ 34.601-90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стадии создания АС, этапность работ и состав документации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ГОСТ Р ИСО/МЭК 12207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процессная модель жизненного цикла ПО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ФЗ № 329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требования к материально-технической базе спортивных организаций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Локальные акты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приказы об инвентаризации, нормы списания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1460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Жизненный цикл АСУП (ГОСТ 34.601-90)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28000" y="1990064"/>
            <a:ext cx="7366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255000" y="1990064"/>
            <a:ext cx="444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63000" y="1990064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Формирование требований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предпроектное обследование, анализ бизнес-процессов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28000" y="2815564"/>
            <a:ext cx="7366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255000" y="2815564"/>
            <a:ext cx="444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63000" y="2815564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Разработка концепции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эскизный проект, выбор архитектуры, </a:t>
            </a:r>
            <a:r>
              <a:rPr lang="ru-RU" sz="1600" dirty="0" err="1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ототипы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28000" y="3641064"/>
            <a:ext cx="7366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255000" y="3641064"/>
            <a:ext cx="444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63000" y="3641064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Техническое проектирование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БД, алгоритмы, схемы информационных потоков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28000" y="4466564"/>
            <a:ext cx="7366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255000" y="4466564"/>
            <a:ext cx="444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63000" y="4466564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Разработка и тестирование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программирование, печатные формы, испытания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128000" y="5292064"/>
            <a:ext cx="7366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8255000" y="5292064"/>
            <a:ext cx="444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63000" y="5292064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Сопровождение АСУ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обучение, эксплуатация, анализ эффективности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5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ПР2 — Функциональные требования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035226"/>
              </p:ext>
            </p:extLst>
          </p:nvPr>
        </p:nvGraphicFramePr>
        <p:xfrm>
          <a:off x="762000" y="1397000"/>
          <a:ext cx="14732000" cy="7112007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Требование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Обоснование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Аналог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Справочник номенклатуры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Идентификация инвентаря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1С:ERP, SAP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Справочник контрагентов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Прозрачность взаиморасчетов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1С:УТ, CRM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Регистрация заявок на снаряжение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Автоматизация сбора потребностей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SRM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Автоматический расчет потребности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Исключение дефицита/избытка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Forecast Mgmt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Бюджетный контроль заявок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Финансовая дисциплина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1С:ERP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Формирование заказов поставщикам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Централизованное управление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1С:УХ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статусов поставок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Прозрачность логистики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ERP Logistics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Приемка товаров на склад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Автоматизация складского учета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1С:УТ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9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Маркировка единиц инвентаря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Прослеживаемость движения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EAN-13, Code-128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Учет движения товаров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Полный контроль местонахождения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1С:Бухгалтерия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Выдача инвентаря спортсменам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Ускорение выдачи, исключение ошибок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Системы проката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возврата инвентаря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Снижение потерь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Системы проката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Блокировка выдачи должникам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Сохранность имущества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Библиотечные системы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Автоматическое списание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Актуальность данных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EAM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15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Инвентаризация склада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сохранности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1С:Бухгалтерия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16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Отчеты для руководителя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Управленческие решения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BI-системы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17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Отчеты для бухгалтерии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Снижение трудозатрат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Товароучетные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18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История единицы инвентаря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Прозрачность использования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ERP Assets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19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Личный кабинет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Вовлеченность пользователей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CRM порталы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Управление поставщиками (SRM)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Оптимизация закупок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SRM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6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8">
            <a:extLst>
              <a:ext uri="{FF2B5EF4-FFF2-40B4-BE49-F238E27FC236}">
                <a16:creationId xmlns:a16="http://schemas.microsoft.com/office/drawing/2014/main" id="{0E7F5F97-78E5-0291-F7F6-0E497943963C}"/>
              </a:ext>
            </a:extLst>
          </p:cNvPr>
          <p:cNvSpPr/>
          <p:nvPr/>
        </p:nvSpPr>
        <p:spPr>
          <a:xfrm>
            <a:off x="8431619" y="5156198"/>
            <a:ext cx="6808380" cy="1812853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Liter" pitchFamily="34" charset="-120"/>
              </a:rPr>
              <a:t>ПР2 — Нефункциональные требования</a:t>
            </a:r>
            <a:endParaRPr lang="en-US" sz="30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808380" cy="3356049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015999" y="1587500"/>
            <a:ext cx="6256349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Liter" pitchFamily="34" charset="-120"/>
              </a:rPr>
              <a:t>Производительность и доступность</a:t>
            </a:r>
            <a:endParaRPr lang="en-US" sz="22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5999" y="2006600"/>
            <a:ext cx="6072339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Многопользовательский доступ: 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50+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 пользователей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Ролевая модель разграничения прав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Круглосуточная доступность 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24/7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 (SLA 99.9%)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Время отклика интерфейса: 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&lt; 2 сек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Интуитивно понятный интерфейс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Надежность: uptime 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≥ 99.5%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Производительность отчетов: 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&lt; 2 мин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431619" y="1460500"/>
            <a:ext cx="6808381" cy="3276601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732899" y="1587501"/>
            <a:ext cx="607234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0E5C9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Liter" pitchFamily="34" charset="-120"/>
              </a:rPr>
              <a:t>Интеграция и масштабирование</a:t>
            </a:r>
            <a:endParaRPr lang="en-US" sz="22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32899" y="2006601"/>
            <a:ext cx="6072340" cy="263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Интеграция с бухгалтерскими системами (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1С, SAP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Автоматическое резервное копирование (ежедневно)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Отказоустойчивость (резервирование серверов БД)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Масштабируемость (рост пользователей/данных)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Модульность архитектуры (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микросервисы, SOA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Кроссплатформенность (Chrome, Firefox, Safari, Edge)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Адаптивность для мобильных устройств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5152951"/>
            <a:ext cx="6808380" cy="18161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016000" y="5279951"/>
            <a:ext cx="6091708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0E5C9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Liter" pitchFamily="34" charset="-120"/>
              </a:rPr>
              <a:t>Безопасность и защита данных</a:t>
            </a:r>
            <a:endParaRPr lang="en-US" sz="22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5699051"/>
            <a:ext cx="6091708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Защита персональных данных (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152-ФЗ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Шифрование конфиденциальной информации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Аудит и логирование действий пользователей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5619" y="5245099"/>
            <a:ext cx="6091708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0E5C9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Liter" pitchFamily="34" charset="-120"/>
              </a:rPr>
              <a:t>Сопровождение и локализация</a:t>
            </a:r>
            <a:endParaRPr lang="en-US" sz="22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5619" y="5664199"/>
            <a:ext cx="6091708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Импортонезависимость (российское ПО из реестра)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Локализация: русский язык, российские форматы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Работа с торговым оборудованием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7 / 16</a:t>
            </a:r>
            <a:endParaRPr lang="en-US" sz="12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ПР3 — Архитектура модулей и пользователи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 модуля АСУ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6858000" cy="8890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89000" y="19685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24000" y="1968500"/>
            <a:ext cx="5905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Управление закупками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, планирование и бюджетный контроль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15 интерфейсных функций, 47 внутрисистемных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2000" y="2984500"/>
            <a:ext cx="6858000" cy="8890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89000" y="29845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24000" y="2984500"/>
            <a:ext cx="5905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Складской учет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, логистика и управление имуществом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18 интерфейсных функций, 56 внутрисистемных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4000500"/>
            <a:ext cx="6858000" cy="8890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889000" y="40005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24000" y="4000500"/>
            <a:ext cx="5905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Администрирование и отчетность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17 интерфейсных функций, 50 внутрисистемных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0" y="1460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7 ролей пользователей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432203"/>
              </p:ext>
            </p:extLst>
          </p:nvPr>
        </p:nvGraphicFramePr>
        <p:xfrm>
          <a:off x="8128000" y="1968500"/>
          <a:ext cx="7366000" cy="4699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Роль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Основные функции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Спортсмен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Просмотр инвентаря, задолженности, заявки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Тренер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Создание заявок, просмотр остатков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Кладовщик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Приемка, выдача, возврат, инвентаризация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Менеджер по закупкам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Заказы, бюджет, поставщики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Руководитель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Утверждение, отчеты, аналитика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Бухгалтер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ОСВ, движение ТМЦ, выгрузка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Администратор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Пользователи, роли, настройки, бэкап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8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ПР3 — Модуль 1: Управление закупками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Назначение и возможности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Сбор и агрегация заявок от тренеров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Автоматический расчет потребности в закупке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Многокомпонентный бюджетный контроль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Формирование и согласование заказов поставщикам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Ведение справочника поставщиков (SRM)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Мониторинг исполнения контрактов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Прогнозирование потребностей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4572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Внутрисистемные функции (IS1–IS47)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50165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952500" y="50165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Заявки (IS1–IS18)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сохранение, проверка данных, определение бюджета, утверждение/отклонение с уведомлениями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58166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52500" y="58166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Планы и заказы (IS19–IS38)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расчет потребности, анализ остатков, резервирование бюджета, статусы поставок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66167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52500" y="66167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Аналитика (IS39–IS47)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рейтинг поставщиков, сравнение цен, динамика цен, история закупок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9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DAD7628-B3BC-D691-814F-AB575D289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4319" y="329100"/>
            <a:ext cx="4205886" cy="8196410"/>
          </a:xfrm>
          <a:prstGeom prst="roundRect">
            <a:avLst>
              <a:gd name="adj" fmla="val 4280"/>
            </a:avLst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ПР3 — Модуль 2: Складской учет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Назначение и возможности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6858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Приемка товаров по заказам с контролем качества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Генерация и печать штрих-кодов / QR-кодов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Учет движения товаров (приход, расход, перемещение)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Выдача инвентаря спортсменам и контроль возврата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Учет технического обслуживания (ремонт, смазка)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Проведение инвентаризации и анализ расхождений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4318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Внутрисистемные функции (IS1–IS56)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48006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952500" y="48006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Приемка и маркировка (IS1–IS16)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сверка с заказом, приходные накладные, генерация штрих-кодов, акты расхождений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56007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52500" y="56007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Выдача и возврат (IS17–IS31)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проверка должников, привязка к спортсмену, документы выдачи/возврата, просрочки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64008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52500" y="64008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Управление и контроль (IS32–IS56)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списание, инвентаризация, перемещения, резервирование, ремонт, контроль качества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10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BA734A8-27E1-A42C-2D68-7543D700F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329100"/>
            <a:ext cx="3473273" cy="8196410"/>
          </a:xfrm>
          <a:prstGeom prst="roundRect">
            <a:avLst>
              <a:gd name="adj" fmla="val 3337"/>
            </a:avLst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ПР3 — Модуль 3: Администрирование и отчетность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Назначение и возможности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6858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Управление пользователями и ролями (разграничение прав)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Ведение единых справочников (номенклатура, контрагенты)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Формирование управленческих отчетов (ОСВ, анализ закупок)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Формирование отчетов для бухгалтерии (движение ТМЦ)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Просмотр и анализ логов действий пользователей (аудит)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Настройка параметров системы и резервного копирования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4318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Внутрисистемные функции (IS1–IS50)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48006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952500" y="48006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Пользователи и справочники (IS1–IS17)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создание учетных записей, назначение ролей, ведение номенклатуры и контрагентов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56007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52500" y="56007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Отчетность (IS18–IS46)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закупки план/факт, ОСВ, движение ТМЦ, дебиторы, статистика использования, износ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64008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52500" y="64008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Аудит и настройки (IS47–IS50)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логирование действий, настройка маршрутов согласования, резервное копирование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11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6924C77-6E8A-6E97-FD0E-A86992B62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922" y="329100"/>
            <a:ext cx="3511283" cy="8196410"/>
          </a:xfrm>
          <a:prstGeom prst="roundRect">
            <a:avLst>
              <a:gd name="adj" fmla="val 3152"/>
            </a:avLst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ПР4 — Диаграммы последовательности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07503" y="1460500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98003" y="1587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06003" y="1587500"/>
            <a:ext cx="3962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Формирование и согласование заявки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715000" y="3830995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905500" y="3957995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13500" y="3957995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Приемка и маркировка инвентаря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60597" y="1460500"/>
            <a:ext cx="4826000" cy="6350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0951097" y="1587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59097" y="1587500"/>
            <a:ext cx="4089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Выдача инвентаря и контроль возврата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12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BC01DEF-B364-3681-8527-7DF376E1E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06" y="2451100"/>
            <a:ext cx="4791494" cy="3372589"/>
          </a:xfrm>
          <a:prstGeom prst="roundRect">
            <a:avLst>
              <a:gd name="adj" fmla="val 5341"/>
            </a:avLst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4F89150-E897-1A72-38D8-CCF867955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571" y="4778993"/>
            <a:ext cx="4838857" cy="3624228"/>
          </a:xfrm>
          <a:prstGeom prst="roundRect">
            <a:avLst>
              <a:gd name="adj" fmla="val 4530"/>
            </a:avLst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F3BC955-45E0-2031-D68C-71D1BF722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2505" y="2451100"/>
            <a:ext cx="4983564" cy="3173199"/>
          </a:xfrm>
          <a:prstGeom prst="roundRect">
            <a:avLst>
              <a:gd name="adj" fmla="val 6089"/>
            </a:avLst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ПР4 — Диаграмма классов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16 классов в 3 пакетах</a:t>
            </a: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| Связи: наследование, ассоциация, композиция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13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89AA88D-BCD6-CD17-27C6-A5288B05A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77116"/>
            <a:ext cx="8935179" cy="6072368"/>
          </a:xfrm>
          <a:prstGeom prst="roundRect">
            <a:avLst>
              <a:gd name="adj" fmla="val 3134"/>
            </a:avLst>
          </a:prstGeom>
        </p:spPr>
      </p:pic>
      <p:sp>
        <p:nvSpPr>
          <p:cNvPr id="19" name="Shape 3"/>
          <p:cNvSpPr/>
          <p:nvPr/>
        </p:nvSpPr>
        <p:spPr>
          <a:xfrm>
            <a:off x="9882850" y="1777116"/>
            <a:ext cx="2918749" cy="3457375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4"/>
          <p:cNvSpPr/>
          <p:nvPr/>
        </p:nvSpPr>
        <p:spPr>
          <a:xfrm>
            <a:off x="10073350" y="1904117"/>
            <a:ext cx="256620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Пакет «Пользователи»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1" name="Text 5"/>
          <p:cNvSpPr/>
          <p:nvPr/>
        </p:nvSpPr>
        <p:spPr>
          <a:xfrm>
            <a:off x="10073350" y="2323217"/>
            <a:ext cx="2566204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Пользователь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(абстрактный)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Наследники (7 классов):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Спортсмен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Тренер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Кладовщик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МенеджерПоЗакупкам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Руководитель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Бухгалтер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Администратор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9882850" y="5568389"/>
            <a:ext cx="5925917" cy="2287527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7"/>
          <p:cNvSpPr/>
          <p:nvPr/>
        </p:nvSpPr>
        <p:spPr>
          <a:xfrm>
            <a:off x="10073351" y="5695389"/>
            <a:ext cx="400902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Пакет «Закупки и планирование»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4" name="Text 8"/>
          <p:cNvSpPr/>
          <p:nvPr/>
        </p:nvSpPr>
        <p:spPr>
          <a:xfrm>
            <a:off x="10073350" y="6114489"/>
            <a:ext cx="5564047" cy="1646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 err="1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ЗаявкаНаИнвентарь</a:t>
            </a:r>
            <a:r>
              <a:rPr lang="ru-RU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→ ПозицияЗаявки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(композиция 1→1..*)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 err="1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ПозицияЗаявки</a:t>
            </a:r>
            <a:r>
              <a:rPr lang="ru-RU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→ Номенклатура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(ассоциация)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 err="1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ЗаказПоставщику</a:t>
            </a:r>
            <a:r>
              <a:rPr lang="ru-RU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→ Поставщик, Менеджер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Поставщик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Рейтинг, история заказов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Номенклатура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Артикул, категория, мин. остаток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13131157" y="1777117"/>
            <a:ext cx="2677610" cy="2857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solidFill>
              <a:srgbClr val="2A2F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10"/>
          <p:cNvSpPr/>
          <p:nvPr/>
        </p:nvSpPr>
        <p:spPr>
          <a:xfrm>
            <a:off x="13321657" y="1904117"/>
            <a:ext cx="248711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Пакет «Склад и учет»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13321657" y="2323217"/>
            <a:ext cx="2487110" cy="214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ЕдиницаИнвентаря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— Штрихкод, статус, история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ВыдачаИнвентаря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→ Спортсмен, Кладовщик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ПриходнаяНакладная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→ Заказ, Кладовщик</a:t>
            </a:r>
            <a:endParaRPr lang="en-US" sz="16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ПР5 — Аппаратное обеспечение АСУ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62887"/>
              </p:ext>
            </p:extLst>
          </p:nvPr>
        </p:nvGraphicFramePr>
        <p:xfrm>
          <a:off x="762000" y="1397000"/>
          <a:ext cx="14732000" cy="711200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Оборудование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Тип / Модель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Кол-во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Назначение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БД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Intel Xeon Silver 4309Y, 32GB RAM, 2xSSD 480GB RAID1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Хранение данных, транзакции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приложений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Intel Xeon Silver 4310, 32GB RAM, SSD 1TB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Бизнес-логика, API, веб-сервер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резервного копирования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2x HDD 4TB RAID1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Резервное копирование БД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Сетевое оборудование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Коммутатор L3 (Cisco Catalyst 9300)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Сетевая связность 24/7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1.5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Межсетевой экран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UserGate / Ideco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Защита от НСД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аналитики (OLAP)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Intel Xeon Silver 4309Y, 64GB RAM, SSD 2TB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Аналитика, отчеты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Хранилище данных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СХД 2x HDD 4TB RAID1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Долгосрочное хранение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ETL-сервер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Виртуальная машина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OLTP → OLAP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Веб-сервер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Виртуальная машина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Веб-интерфейс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ТСД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Zebra TC21 (сканер штрих-кода)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Приемка, выдача, инвентаризация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Принтер этикеток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Zebra ZD421 (термотрансферный)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Печать штрих-кодов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АРМ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Рабочие станции (ПК)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8-10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Работа пользователей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3.5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Мобильные устройства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Планшеты / смартфоны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10+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Личные кабинеты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901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3.6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Защищенный планшет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Getac T800 / Panasonic Toughpad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2-3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Работа тренера на трассе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14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ПР5 — Программное обеспечение АСУ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802240"/>
              </p:ext>
            </p:extLst>
          </p:nvPr>
        </p:nvGraphicFramePr>
        <p:xfrm>
          <a:off x="762000" y="1397000"/>
          <a:ext cx="14732000" cy="7112004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Наименование ПО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Версия / Тип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Назначение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Операционная система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Astra Linux Special Edition / Red OS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Базовая ОС серверов (импортозамещение)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СУБД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PostgreSQL 17 / Postgres Pro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Хранение данных, транзакции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приложений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Spring Boot (Java 21) / .NET Core 8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Бизнес-логика, REST API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Веб-сервер (Frontend)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React.js / Vue.js (SPA)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Пользовательский интерфейс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1.5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Резервное копирование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Bacula / Veeam Backup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Автоматический бэкап БД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1.6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Мониторинг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Zabbix / Prometheus + Grafana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Мониторинг серверов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1.7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Контейнеризация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Docker + Docker Compose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Микросервисы, масштабирование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OLAP-сервер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ClickHouse / Apache Druid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Аналитическая обработка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ETL-инструмент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Apache NiFi / Talend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Извлечение, трансформация, загрузка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BI-платформа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Redash / Apache Superset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Визуализация, дашборды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Прогнозирование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Python (pandas, scikit-learn)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Прогноз потребностей в закупках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Веб-сервер (Reverse Proxy)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Nginx / Apache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Проксирование, балансировка, SSL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аутентификации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Keycloak / WSO2 Identity Server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SSO, MFA, ролевая модель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API-шлюз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Kong / Apache APISIX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Управление API, rate limiting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Офисный пакет (АРМ)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LibreOffice / Р7-Офис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Просмотр и экспорт отчетов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9440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3.5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Мобильное приложение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React PWA + IndexedDB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Работа офлайн, синхронизация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15 / 16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016000"/>
            <a:ext cx="2540000" cy="38100"/>
          </a:xfrm>
          <a:prstGeom prst="rect">
            <a:avLst/>
          </a:prstGeom>
          <a:gradFill flip="none" rotWithShape="1">
            <a:gsLst>
              <a:gs pos="0">
                <a:srgbClr val="00E5C9">
                  <a:alpha val="0"/>
                </a:srgbClr>
              </a:gs>
              <a:gs pos="30000">
                <a:srgbClr val="00E5C9"/>
              </a:gs>
              <a:gs pos="7000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318000" y="127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6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Заключение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75500" y="1968500"/>
            <a:ext cx="1905000" cy="38100"/>
          </a:xfrm>
          <a:prstGeom prst="rect">
            <a:avLst/>
          </a:prstGeom>
          <a:gradFill flip="none" rotWithShape="1">
            <a:gsLst>
              <a:gs pos="0">
                <a:srgbClr val="00E5C9">
                  <a:alpha val="0"/>
                </a:srgbClr>
              </a:gs>
              <a:gs pos="30000">
                <a:srgbClr val="00E5C9"/>
              </a:gs>
              <a:gs pos="7000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778000" y="2286000"/>
            <a:ext cx="1270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 рамках практических работ </a:t>
            </a: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ПР1–ПР5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спроектирована АСУП для обеспечения инвентарем лыжного спорта:</a:t>
            </a:r>
            <a:endParaRPr lang="en-US" sz="1800" dirty="0">
              <a:latin typeface="Tinkoff Sans" panose="02000506050000020004" pitchFamily="2" charset="0"/>
            </a:endParaRP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определены бизнес-процессы и пользователи системы</a:t>
            </a:r>
            <a:endParaRPr lang="en-US" sz="1800" dirty="0">
              <a:latin typeface="Tinkoff Sans" panose="0200050605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ПР2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сформированы функциональные (20) и нефункциональные (20) требования</a:t>
            </a:r>
            <a:endParaRPr lang="en-US" sz="1800" dirty="0">
              <a:latin typeface="Tinkoff Sans" panose="0200050605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ПР3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разработана модульная архитектура (3 модуля, 7 ролей, 153 функции)</a:t>
            </a:r>
            <a:endParaRPr lang="en-US" sz="1800" dirty="0">
              <a:latin typeface="Tinkoff Sans" panose="0200050605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ПР4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построены UML-диаграммы (последовательности, классов)</a:t>
            </a:r>
            <a:endParaRPr lang="en-US" sz="1800" dirty="0">
              <a:latin typeface="Tinkoff Sans" panose="0200050605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ПР5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определены аппаратное и программное обеспечение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588000" y="5842000"/>
            <a:ext cx="5080000" cy="12700"/>
          </a:xfrm>
          <a:prstGeom prst="rect">
            <a:avLst/>
          </a:prstGeom>
          <a:solidFill>
            <a:srgbClr val="2A2F3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2413000" y="6096000"/>
            <a:ext cx="1143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Презентация подготовлена в рамках ПР16 по дисциплине «АСУ элементами промышленных и административных объектов»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83000" y="6731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Павлов Н.С.</a:t>
            </a: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| ИКБО-50-23 | РТУ МИРЭА | 2026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8890000"/>
            <a:ext cx="1016000" cy="254000"/>
          </a:xfrm>
          <a:prstGeom prst="rect">
            <a:avLst/>
          </a:prstGeom>
          <a:solidFill>
            <a:srgbClr val="00E5C9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5240000" y="8890000"/>
            <a:ext cx="1016000" cy="254000"/>
          </a:xfrm>
          <a:prstGeom prst="rect">
            <a:avLst/>
          </a:prstGeom>
          <a:solidFill>
            <a:srgbClr val="00E5C9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2021</Words>
  <Application>Microsoft Office PowerPoint</Application>
  <PresentationFormat>Произвольный</PresentationFormat>
  <Paragraphs>495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Tinkoff Sans</vt:lpstr>
      <vt:lpstr>Arial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АСУ для обеспечения инвентарем лыжного спорта</dc:title>
  <dc:subject>АСУ для обеспечения инвентарем лыжного спорта</dc:subject>
  <dc:creator>Kimi</dc:creator>
  <cp:lastModifiedBy>Никита Павлов</cp:lastModifiedBy>
  <cp:revision>9</cp:revision>
  <dcterms:created xsi:type="dcterms:W3CDTF">2026-05-12T08:31:02Z</dcterms:created>
  <dcterms:modified xsi:type="dcterms:W3CDTF">2026-05-13T19:11:36Z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{"Label":"АСУ для обеспечения инвентарем лыжного спорта","ContentProducer":"001191110108MACG2KBH8F10000","ProduceID":"19e1b4f1-74e2-8d75-8000-0000228dc57e","ReservedCode1":"","ContentPropagator":"001191110108MACG2KBH8F20000","PropagateID":"19e1b4f1-74e2-8d75-8000-0000228dc57e","ReservedCode2":""}</vt:lpwstr>
  </property>
</Properties>
</file>