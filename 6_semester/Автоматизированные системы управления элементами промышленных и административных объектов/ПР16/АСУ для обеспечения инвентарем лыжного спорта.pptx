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8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272" r:id="rId46"/>
    <p:sldId id="273" r:id="rId47"/>
    <p:sldId id="271" r:id="rId48"/>
  </p:sldIdLst>
  <p:sldSz cx="16256000" cy="9144000"/>
  <p:notesSz cx="9144000" cy="16256000"/>
  <p:embeddedFontLst>
    <p:embeddedFont>
      <p:font typeface="Tinkoff Sans" panose="02000506050000020004" pitchFamily="2" charset="0"/>
      <p:regular r:id="rId50"/>
      <p:bold r:id="rId5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13151D"/>
    <a:srgbClr val="181B24"/>
    <a:srgbClr val="2DD4BF"/>
    <a:srgbClr val="27272A"/>
    <a:srgbClr val="1F1F23"/>
    <a:srgbClr val="0D0F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62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4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778000" y="2346916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4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Автоматизированная система управления</a:t>
            </a:r>
            <a:r>
              <a:rPr lang="en-US" sz="4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ru-RU" sz="4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материально-техническим обеспечением </a:t>
            </a:r>
            <a:r>
              <a:rPr lang="en-US" sz="4200" b="1" dirty="0" err="1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лыжного</a:t>
            </a:r>
            <a:r>
              <a:rPr lang="en-US" sz="42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4200" b="1" dirty="0" err="1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спорта</a:t>
            </a:r>
            <a:endParaRPr lang="en-US" sz="4200" dirty="0">
              <a:latin typeface="Tinkoff Sans" panose="02000506050000020004" pitchFamily="2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6858000" y="1843974"/>
            <a:ext cx="2540000" cy="38100"/>
          </a:xfrm>
          <a:prstGeom prst="rect">
            <a:avLst/>
          </a:prstGeom>
          <a:gradFill flip="none" rotWithShape="1">
            <a:gsLst>
              <a:gs pos="0">
                <a:srgbClr val="00E5C9">
                  <a:alpha val="0"/>
                </a:srgbClr>
              </a:gs>
              <a:gs pos="30000">
                <a:srgbClr val="00E5C9"/>
              </a:gs>
              <a:gs pos="7000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175500" y="4445000"/>
            <a:ext cx="1905000" cy="38100"/>
          </a:xfrm>
          <a:prstGeom prst="rect">
            <a:avLst/>
          </a:prstGeom>
          <a:gradFill flip="none" rotWithShape="1">
            <a:gsLst>
              <a:gs pos="0">
                <a:srgbClr val="00E5C9">
                  <a:alpha val="0"/>
                </a:srgbClr>
              </a:gs>
              <a:gs pos="30000">
                <a:srgbClr val="00E5C9"/>
              </a:gs>
              <a:gs pos="7000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413000" y="47625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Итоговая презентация проекта по </a:t>
            </a:r>
            <a:r>
              <a:rPr lang="en-US" sz="2800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практическим</a:t>
            </a:r>
            <a:r>
              <a:rPr lang="en-US" sz="2800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800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работам</a:t>
            </a:r>
            <a:endParaRPr lang="en-US" sz="28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83000" y="6381011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Павлов Н.С. | Группа ИКБО-50-23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РТУ МИРЭА — Российский технологический университет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Институт информационных технологий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Кафедра информационных технологий в атомной энергетике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33061" y="5402669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 дисциплине</a:t>
            </a:r>
            <a:r>
              <a:rPr lang="en-US" dirty="0">
                <a:solidFill>
                  <a:srgbClr val="FEFEFE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АСУ элементами промышленных и </a:t>
            </a:r>
            <a:r>
              <a:rPr lang="en-US" dirty="0" err="1">
                <a:solidFill>
                  <a:srgbClr val="FEFEFE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административных</a:t>
            </a:r>
            <a:r>
              <a:rPr lang="en-US" dirty="0">
                <a:solidFill>
                  <a:srgbClr val="FEFEFE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dirty="0" err="1">
                <a:solidFill>
                  <a:srgbClr val="FEFEFE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объектов</a:t>
            </a:r>
            <a:endParaRPr lang="en-US" sz="2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0" y="8171711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Москва 2026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5511CF9-129C-B181-8CDA-8355D06DCDFC}"/>
              </a:ext>
            </a:extLst>
          </p:cNvPr>
          <p:cNvSpPr/>
          <p:nvPr/>
        </p:nvSpPr>
        <p:spPr>
          <a:xfrm>
            <a:off x="5588000" y="8095511"/>
            <a:ext cx="5080000" cy="12700"/>
          </a:xfrm>
          <a:prstGeom prst="rect">
            <a:avLst/>
          </a:prstGeom>
          <a:solidFill>
            <a:srgbClr val="2A2F3C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Введение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336453"/>
            <a:ext cx="147320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 рамках дисциплины </a:t>
            </a: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«АСУ элементами промышленных и административных объектов»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выполнены практические работы </a:t>
            </a: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ПР1–ПР15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, в ходе которых спроектирована автоматизированная система управления предприятием (АСУП) для обеспечения инвентарем лыжного </a:t>
            </a:r>
            <a:r>
              <a:rPr lang="en-US" sz="18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спорта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. </a:t>
            </a:r>
            <a:r>
              <a:rPr lang="en-US" sz="18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Презентация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объединяет результаты всех этапов проектирования: от анализа деятельности </a:t>
            </a:r>
            <a:r>
              <a:rPr lang="en-US" sz="18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организации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до</a:t>
            </a:r>
            <a:r>
              <a:rPr lang="ru-RU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реализации некоторый программных модулей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Цель проекта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</a:t>
            </a: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</a:rPr>
              <a:t>разработка автоматизированной системы управления материально-техническим обеспечением, которая автоматизирует процессы планирования закупок, складского учёта, выдачи и возврата инвентаря, а также прогнозирования потребности с учётом сезонности лыжного спорта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40210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62000" y="4122626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3600" y="4529026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Анализ деятельности и концепция АСУП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59200" y="40210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759200" y="4122626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60800" y="4529026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Функциональные и нефункциональные т</a:t>
            </a:r>
            <a:r>
              <a:rPr lang="en-US" sz="1400" dirty="0" err="1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ребования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56400" y="40210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756400" y="4122626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4529026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Модули, пользователи и функции АСУ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53600" y="40210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753600" y="4122626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ПР4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55200" y="4529026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UML-</a:t>
            </a:r>
            <a:r>
              <a:rPr lang="en-US" sz="1400" dirty="0" err="1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диаграммы</a:t>
            </a: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последовательностей и классов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750800" y="40210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2750800" y="4122626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ПР5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852400" y="4529026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Техническое и программное обеспечение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A1A53081-BF86-2677-38CF-3DE2C08ECE02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96905139-1EA5-F7EF-8162-5C04BB28BD84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77B35D93-C2F0-8C1F-7EBC-60792991E458}"/>
              </a:ext>
            </a:extLst>
          </p:cNvPr>
          <p:cNvSpPr/>
          <p:nvPr/>
        </p:nvSpPr>
        <p:spPr>
          <a:xfrm>
            <a:off x="762000" y="69674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2FE693B8-80AC-F9DC-5DAF-D00A5F28939B}"/>
              </a:ext>
            </a:extLst>
          </p:cNvPr>
          <p:cNvSpPr/>
          <p:nvPr/>
        </p:nvSpPr>
        <p:spPr>
          <a:xfrm>
            <a:off x="762000" y="7069026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</a:t>
            </a:r>
            <a:r>
              <a:rPr lang="ru-RU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8B4CF712-110A-21DF-1B52-085837FC7007}"/>
              </a:ext>
            </a:extLst>
          </p:cNvPr>
          <p:cNvSpPr/>
          <p:nvPr/>
        </p:nvSpPr>
        <p:spPr>
          <a:xfrm>
            <a:off x="863600" y="7475426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Информационный </a:t>
            </a: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web-</a:t>
            </a: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портал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2" name="Shape 6">
            <a:extLst>
              <a:ext uri="{FF2B5EF4-FFF2-40B4-BE49-F238E27FC236}">
                <a16:creationId xmlns:a16="http://schemas.microsoft.com/office/drawing/2014/main" id="{B7F0984C-1127-5A22-B360-AE24BB5D0D1E}"/>
              </a:ext>
            </a:extLst>
          </p:cNvPr>
          <p:cNvSpPr/>
          <p:nvPr/>
        </p:nvSpPr>
        <p:spPr>
          <a:xfrm>
            <a:off x="3759200" y="69674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94AC6CFC-1E15-3D8B-8271-0F3F3E0770B7}"/>
              </a:ext>
            </a:extLst>
          </p:cNvPr>
          <p:cNvSpPr/>
          <p:nvPr/>
        </p:nvSpPr>
        <p:spPr>
          <a:xfrm>
            <a:off x="3759200" y="7069026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</a:t>
            </a:r>
            <a:r>
              <a:rPr lang="ru-RU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EEE671D2-5E22-461A-1083-C91034AA8A81}"/>
              </a:ext>
            </a:extLst>
          </p:cNvPr>
          <p:cNvSpPr/>
          <p:nvPr/>
        </p:nvSpPr>
        <p:spPr>
          <a:xfrm>
            <a:off x="3860800" y="7475426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Программный модуль в </a:t>
            </a: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web</a:t>
            </a: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-интерфейсом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B1D3EB34-CC02-92BB-7700-428DC7B07256}"/>
              </a:ext>
            </a:extLst>
          </p:cNvPr>
          <p:cNvSpPr/>
          <p:nvPr/>
        </p:nvSpPr>
        <p:spPr>
          <a:xfrm>
            <a:off x="6756400" y="69674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153CDE41-D3CB-0F90-4480-A4A24CFE1C11}"/>
              </a:ext>
            </a:extLst>
          </p:cNvPr>
          <p:cNvSpPr/>
          <p:nvPr/>
        </p:nvSpPr>
        <p:spPr>
          <a:xfrm>
            <a:off x="6756400" y="7069026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</a:t>
            </a:r>
            <a:r>
              <a:rPr lang="ru-RU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511DE48F-774A-F036-7FE5-AB62D0F04FBF}"/>
              </a:ext>
            </a:extLst>
          </p:cNvPr>
          <p:cNvSpPr/>
          <p:nvPr/>
        </p:nvSpPr>
        <p:spPr>
          <a:xfrm>
            <a:off x="6858000" y="7475426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Схема компьютерной сети и угрозы безопасности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8" name="Shape 12">
            <a:extLst>
              <a:ext uri="{FF2B5EF4-FFF2-40B4-BE49-F238E27FC236}">
                <a16:creationId xmlns:a16="http://schemas.microsoft.com/office/drawing/2014/main" id="{1F48D9FD-1865-D090-6F1C-016275B71592}"/>
              </a:ext>
            </a:extLst>
          </p:cNvPr>
          <p:cNvSpPr/>
          <p:nvPr/>
        </p:nvSpPr>
        <p:spPr>
          <a:xfrm>
            <a:off x="9753600" y="69674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1F259EAD-7FA9-A4BC-FF41-3D706704EBD7}"/>
              </a:ext>
            </a:extLst>
          </p:cNvPr>
          <p:cNvSpPr/>
          <p:nvPr/>
        </p:nvSpPr>
        <p:spPr>
          <a:xfrm>
            <a:off x="9753600" y="7069026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</a:t>
            </a:r>
            <a:r>
              <a:rPr lang="ru-RU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91AD6827-5F38-763C-3453-48FF059D2BCA}"/>
              </a:ext>
            </a:extLst>
          </p:cNvPr>
          <p:cNvSpPr/>
          <p:nvPr/>
        </p:nvSpPr>
        <p:spPr>
          <a:xfrm>
            <a:off x="9855200" y="7475426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Программные средства защиты рабочих станций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8EB8CFCF-BEB8-93EF-430B-CA1EB8151BB5}"/>
              </a:ext>
            </a:extLst>
          </p:cNvPr>
          <p:cNvSpPr/>
          <p:nvPr/>
        </p:nvSpPr>
        <p:spPr>
          <a:xfrm>
            <a:off x="12750800" y="69674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6A8AED06-9E81-B040-590E-1A777FF05FA3}"/>
              </a:ext>
            </a:extLst>
          </p:cNvPr>
          <p:cNvSpPr/>
          <p:nvPr/>
        </p:nvSpPr>
        <p:spPr>
          <a:xfrm>
            <a:off x="12750800" y="7069026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</a:t>
            </a:r>
            <a:r>
              <a:rPr lang="ru-RU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01D1A60A-E012-B491-3F76-31DE5AA3627A}"/>
              </a:ext>
            </a:extLst>
          </p:cNvPr>
          <p:cNvSpPr/>
          <p:nvPr/>
        </p:nvSpPr>
        <p:spPr>
          <a:xfrm>
            <a:off x="12852400" y="7475426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Средства защиты сетевой передачи данных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9ACD2067-DF46-F51E-EDDC-2AF658268BE4}"/>
              </a:ext>
            </a:extLst>
          </p:cNvPr>
          <p:cNvSpPr/>
          <p:nvPr/>
        </p:nvSpPr>
        <p:spPr>
          <a:xfrm>
            <a:off x="762000" y="54942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3151D"/>
          </a:solidFill>
          <a:ln w="12700">
            <a:noFill/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1283DDD4-F8B2-5C71-8026-EC75624104A0}"/>
              </a:ext>
            </a:extLst>
          </p:cNvPr>
          <p:cNvSpPr/>
          <p:nvPr/>
        </p:nvSpPr>
        <p:spPr>
          <a:xfrm>
            <a:off x="762000" y="5595826"/>
            <a:ext cx="2743200" cy="381000"/>
          </a:xfrm>
          <a:prstGeom prst="rect">
            <a:avLst/>
          </a:prstGeom>
          <a:solidFill>
            <a:srgbClr val="13151D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</a:t>
            </a:r>
            <a:r>
              <a:rPr lang="ru-RU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81FAA61A-3D23-AB8E-9BD4-FDC32B394E1B}"/>
              </a:ext>
            </a:extLst>
          </p:cNvPr>
          <p:cNvSpPr/>
          <p:nvPr/>
        </p:nvSpPr>
        <p:spPr>
          <a:xfrm>
            <a:off x="863600" y="6002226"/>
            <a:ext cx="2540000" cy="635000"/>
          </a:xfrm>
          <a:prstGeom prst="rect">
            <a:avLst/>
          </a:prstGeom>
          <a:solidFill>
            <a:srgbClr val="13151D"/>
          </a:solidFill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Разработка программного модуля прогнозирования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85FBE605-74B3-1CAE-40DC-A04F18DB546D}"/>
              </a:ext>
            </a:extLst>
          </p:cNvPr>
          <p:cNvSpPr/>
          <p:nvPr/>
        </p:nvSpPr>
        <p:spPr>
          <a:xfrm>
            <a:off x="3759200" y="54942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3151D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693F7F8F-692D-82E5-D40C-C010B47A43A6}"/>
              </a:ext>
            </a:extLst>
          </p:cNvPr>
          <p:cNvSpPr/>
          <p:nvPr/>
        </p:nvSpPr>
        <p:spPr>
          <a:xfrm>
            <a:off x="3759200" y="5595826"/>
            <a:ext cx="2743200" cy="381000"/>
          </a:xfrm>
          <a:prstGeom prst="rect">
            <a:avLst/>
          </a:prstGeom>
          <a:solidFill>
            <a:srgbClr val="13151D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</a:t>
            </a:r>
            <a:r>
              <a:rPr lang="ru-RU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81D053CE-8E0F-CF15-5F51-B59F63F76B3A}"/>
              </a:ext>
            </a:extLst>
          </p:cNvPr>
          <p:cNvSpPr/>
          <p:nvPr/>
        </p:nvSpPr>
        <p:spPr>
          <a:xfrm>
            <a:off x="3860800" y="6002226"/>
            <a:ext cx="2540000" cy="635000"/>
          </a:xfrm>
          <a:prstGeom prst="rect">
            <a:avLst/>
          </a:prstGeom>
          <a:solidFill>
            <a:srgbClr val="13151D"/>
          </a:solidFill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Проектирование базы данных (</a:t>
            </a: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ER-</a:t>
            </a: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диаграмма)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0" name="Shape 9">
            <a:extLst>
              <a:ext uri="{FF2B5EF4-FFF2-40B4-BE49-F238E27FC236}">
                <a16:creationId xmlns:a16="http://schemas.microsoft.com/office/drawing/2014/main" id="{2D4EB756-7C47-C9A8-837F-88423C5BEE75}"/>
              </a:ext>
            </a:extLst>
          </p:cNvPr>
          <p:cNvSpPr/>
          <p:nvPr/>
        </p:nvSpPr>
        <p:spPr>
          <a:xfrm>
            <a:off x="6756400" y="54942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3151D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DF2C6BE6-8BCC-8FC2-B9BD-44D44F2C5FFB}"/>
              </a:ext>
            </a:extLst>
          </p:cNvPr>
          <p:cNvSpPr/>
          <p:nvPr/>
        </p:nvSpPr>
        <p:spPr>
          <a:xfrm>
            <a:off x="6756400" y="5595826"/>
            <a:ext cx="2743200" cy="381000"/>
          </a:xfrm>
          <a:prstGeom prst="rect">
            <a:avLst/>
          </a:prstGeom>
          <a:solidFill>
            <a:srgbClr val="13151D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</a:t>
            </a:r>
            <a:r>
              <a:rPr lang="ru-RU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280BF73B-8C6F-E9AC-C2BC-A03870F747AE}"/>
              </a:ext>
            </a:extLst>
          </p:cNvPr>
          <p:cNvSpPr/>
          <p:nvPr/>
        </p:nvSpPr>
        <p:spPr>
          <a:xfrm>
            <a:off x="6858000" y="6002226"/>
            <a:ext cx="2540000" cy="635000"/>
          </a:xfrm>
          <a:prstGeom prst="rect">
            <a:avLst/>
          </a:prstGeom>
          <a:solidFill>
            <a:srgbClr val="13151D"/>
          </a:solidFill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Создание БД в </a:t>
            </a: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PostgreSQL </a:t>
            </a: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и заполнение </a:t>
            </a:r>
            <a:r>
              <a:rPr lang="ru-RU" sz="1400" dirty="0" err="1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данныеми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216D5078-6B66-74C5-651D-3B43E0E13EEC}"/>
              </a:ext>
            </a:extLst>
          </p:cNvPr>
          <p:cNvSpPr/>
          <p:nvPr/>
        </p:nvSpPr>
        <p:spPr>
          <a:xfrm>
            <a:off x="9753600" y="54942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3151D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4" name="Text 13">
            <a:extLst>
              <a:ext uri="{FF2B5EF4-FFF2-40B4-BE49-F238E27FC236}">
                <a16:creationId xmlns:a16="http://schemas.microsoft.com/office/drawing/2014/main" id="{A1D33617-01C1-9101-AB9B-AA3BE1197552}"/>
              </a:ext>
            </a:extLst>
          </p:cNvPr>
          <p:cNvSpPr/>
          <p:nvPr/>
        </p:nvSpPr>
        <p:spPr>
          <a:xfrm>
            <a:off x="9753600" y="5595826"/>
            <a:ext cx="2743200" cy="381000"/>
          </a:xfrm>
          <a:prstGeom prst="rect">
            <a:avLst/>
          </a:prstGeom>
          <a:solidFill>
            <a:srgbClr val="13151D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</a:t>
            </a:r>
            <a:r>
              <a:rPr lang="ru-RU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994F30B4-FEAB-825D-9374-FEB07B16A9CD}"/>
              </a:ext>
            </a:extLst>
          </p:cNvPr>
          <p:cNvSpPr/>
          <p:nvPr/>
        </p:nvSpPr>
        <p:spPr>
          <a:xfrm>
            <a:off x="9855200" y="6002226"/>
            <a:ext cx="2540000" cy="635000"/>
          </a:xfrm>
          <a:prstGeom prst="rect">
            <a:avLst/>
          </a:prstGeom>
          <a:solidFill>
            <a:srgbClr val="13151D"/>
          </a:solidFill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Расчет технического обеспечения АСУ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6" name="Shape 15">
            <a:extLst>
              <a:ext uri="{FF2B5EF4-FFF2-40B4-BE49-F238E27FC236}">
                <a16:creationId xmlns:a16="http://schemas.microsoft.com/office/drawing/2014/main" id="{383FBFFE-7D6E-00EB-A9AD-454EC41120F7}"/>
              </a:ext>
            </a:extLst>
          </p:cNvPr>
          <p:cNvSpPr/>
          <p:nvPr/>
        </p:nvSpPr>
        <p:spPr>
          <a:xfrm>
            <a:off x="12750800" y="5494226"/>
            <a:ext cx="2743200" cy="1270000"/>
          </a:xfrm>
          <a:prstGeom prst="roundRect">
            <a:avLst>
              <a:gd name="adj" fmla="val 8000"/>
            </a:avLst>
          </a:prstGeom>
          <a:solidFill>
            <a:srgbClr val="13151D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7" name="Text 16">
            <a:extLst>
              <a:ext uri="{FF2B5EF4-FFF2-40B4-BE49-F238E27FC236}">
                <a16:creationId xmlns:a16="http://schemas.microsoft.com/office/drawing/2014/main" id="{CCCEBF92-4119-737B-9C61-535F4ECD4CFD}"/>
              </a:ext>
            </a:extLst>
          </p:cNvPr>
          <p:cNvSpPr/>
          <p:nvPr/>
        </p:nvSpPr>
        <p:spPr>
          <a:xfrm>
            <a:off x="12750800" y="5595826"/>
            <a:ext cx="2743200" cy="381000"/>
          </a:xfrm>
          <a:prstGeom prst="rect">
            <a:avLst/>
          </a:prstGeom>
          <a:solidFill>
            <a:srgbClr val="13151D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</a:t>
            </a:r>
            <a:r>
              <a:rPr lang="ru-RU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8" name="Text 17">
            <a:extLst>
              <a:ext uri="{FF2B5EF4-FFF2-40B4-BE49-F238E27FC236}">
                <a16:creationId xmlns:a16="http://schemas.microsoft.com/office/drawing/2014/main" id="{BD581D7D-EAE6-5382-EB05-8921A1B5D642}"/>
              </a:ext>
            </a:extLst>
          </p:cNvPr>
          <p:cNvSpPr/>
          <p:nvPr/>
        </p:nvSpPr>
        <p:spPr>
          <a:xfrm>
            <a:off x="12852400" y="6002226"/>
            <a:ext cx="2540000" cy="635000"/>
          </a:xfrm>
          <a:prstGeom prst="rect">
            <a:avLst/>
          </a:prstGeom>
          <a:solidFill>
            <a:srgbClr val="13151D"/>
          </a:solidFill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Развертывание виртуального стенда</a:t>
            </a:r>
            <a:endParaRPr lang="en-US" sz="16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 — Описание организации и бизнес-процессы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Объект автоматизации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4999"/>
            <a:ext cx="6858000" cy="123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Отдел снабжения и логистики спортивной организации (лыжная федерация, спортшкола, прокат), занимающийся обеспечением спортсменов инвентарем.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3473899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Ключевые проблемы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3918399"/>
            <a:ext cx="6858000" cy="219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Дефицит или избыток инвентаря на складе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Срыв сроков поставок поставщиков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Нецелевое использование бюджета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Потеря инвентаря и несвоевременный возврат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Отсутствие актуальной информации об остатках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28000" y="1460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Бизнес-процессы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28000" y="1905000"/>
            <a:ext cx="7366000" cy="2114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Планирование закупок на основе заявок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Взаимодействие с поставщиками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Учет поступления товаров на склад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Контроль остатков и управление запасами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Выдача снаряжения и контроль возврата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28000" y="4508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Пользователи системы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069112"/>
              </p:ext>
            </p:extLst>
          </p:nvPr>
        </p:nvGraphicFramePr>
        <p:xfrm>
          <a:off x="8128000" y="4953000"/>
          <a:ext cx="7366000" cy="2963331"/>
        </p:xfrm>
        <a:graphic>
          <a:graphicData uri="http://schemas.openxmlformats.org/drawingml/2006/table">
            <a:tbl>
              <a:tblPr/>
              <a:tblGrid>
                <a:gridCol w="331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Роль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Функции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Менеджер по закупкам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Заказы, контроль поставок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Кладовщик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Приемка, выдача, учет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Тренер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Заявки на инвентарь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Спортсмен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Личный кабинет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Руководитель / Бухгалтер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Отчеты, бюджет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ru-RU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Администратор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Администрирование системы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945828"/>
                  </a:ext>
                </a:extLst>
              </a:tr>
            </a:tbl>
          </a:graphicData>
        </a:graphic>
      </p:graphicFrame>
      <p:sp>
        <p:nvSpPr>
          <p:cNvPr id="14" name="Text 9">
            <a:extLst>
              <a:ext uri="{FF2B5EF4-FFF2-40B4-BE49-F238E27FC236}">
                <a16:creationId xmlns:a16="http://schemas.microsoft.com/office/drawing/2014/main" id="{B83FE94A-4720-D9F2-A970-F6A724AFC523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E84A695-9109-6915-62F3-98CAEDF10CEA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 — Тип АСУП и техническое оснащение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Тип системы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АСУП класса ERP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(Enterprise Resource Planning) — модульная товароучетная система с элементами планирования ресурсов.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3176774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Основные функции АСУП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3621274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Ведение справочников (спортсмены, снаряжение, поставщики)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Регистрация заявок на снаряжение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Учет движения товаров (приход, расход, перемещение, возврат)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Автоматическое формирование отчетов для бухгалтерии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Контроль исполнения закупок и поставок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Работа в режиме 24/7 с разграничением прав доступа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28000" y="1460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Техническое оснащение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28000" y="1905000"/>
            <a:ext cx="736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Серверное оборудование (БД и приложение)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АРМ специалистов (веб-интерфейс / толстый клиент)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Принтеры этикеток для маркировки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Сканеры штрих-кодов для идентификации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28000" y="4064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Программная часть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28000" y="4508500"/>
            <a:ext cx="7366000" cy="135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Модуль управления закупками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Модуль </a:t>
            </a:r>
            <a:r>
              <a:rPr lang="en-US" sz="18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складского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учета</a:t>
            </a:r>
            <a:endParaRPr lang="ru-RU" sz="1800" dirty="0">
              <a:solidFill>
                <a:srgbClr val="E8ECF1"/>
              </a:solidFill>
              <a:latin typeface="Tinkoff Sans" panose="02000506050000020004" pitchFamily="2" charset="0"/>
              <a:ea typeface="QuattrocentoSans" pitchFamily="34" charset="-122"/>
              <a:cs typeface="QuattrocentoSans" pitchFamily="34" charset="-12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Модуль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ru-RU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администрирования и отчетности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28000" y="6253721"/>
            <a:ext cx="7366000" cy="635000"/>
          </a:xfrm>
          <a:prstGeom prst="roundRect">
            <a:avLst>
              <a:gd name="adj" fmla="val 8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382000" y="6200556"/>
            <a:ext cx="685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Режимы: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плановый, ручной, администрирование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FC313E15-91C0-97F1-17A6-047FA7802595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7CE65F40-AC51-44A5-C3A3-0B2E53461EAE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 — Жизненный цикл и нормативно-правовое обеспечение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Нормативно-правовая база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7084828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ГОСТ 34.601-90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стадии создания АС, этапность работ и состав документации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ГОСТ Р ИСО/МЭК 12207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процессная модель жизненного цикла ПО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ФЗ № 329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требования к материально-технической базе спортивных организаций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Локальные акты</a:t>
            </a:r>
            <a:r>
              <a:rPr lang="en-US" sz="18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приказы об инвентаризации, нормы списания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1460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Жизненный цикл АСУП (ГОСТ 34.601-90)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28000" y="1990064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255000" y="1990064"/>
            <a:ext cx="4445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63000" y="1990064"/>
            <a:ext cx="6604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Формирование требований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предпроектное обследование, анализ бизнес-процессов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28000" y="2815564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55000" y="2815564"/>
            <a:ext cx="4445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63000" y="2815564"/>
            <a:ext cx="6731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Разработка концепции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эскизный проект, выбор архитектуры, </a:t>
            </a:r>
            <a:r>
              <a:rPr lang="ru-RU" sz="1600" dirty="0" err="1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ототипы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28000" y="3641064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255000" y="3641064"/>
            <a:ext cx="4445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63000" y="3641064"/>
            <a:ext cx="6604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Техническое проектирование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БД, алгоритмы, схемы информационных потоков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28000" y="4466564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255000" y="4466564"/>
            <a:ext cx="4445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63000" y="4466564"/>
            <a:ext cx="6604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Разработка и тестирование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программирование, печатные формы, испытания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128000" y="5292064"/>
            <a:ext cx="7366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8255000" y="5292064"/>
            <a:ext cx="444500" cy="698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63000" y="5292064"/>
            <a:ext cx="6604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Сопровождение АСУ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обучение, эксплуатация, анализ эффективности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BD49A2BD-D19B-02E2-24FE-ACA6242EFA52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C48EC92-0D12-8060-9D37-810EA5E487B9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ПР2 — Функциональные требования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035226"/>
              </p:ext>
            </p:extLst>
          </p:nvPr>
        </p:nvGraphicFramePr>
        <p:xfrm>
          <a:off x="762000" y="1397000"/>
          <a:ext cx="14732000" cy="7112007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Требование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Обоснование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Аналог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Справочник номенклатуры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Идентификация 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1С:ERP, SAP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Справочник контрагентов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Прозрачность взаиморасчетов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1С:УТ, CRM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Регистрация заявок на снаряжение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Автоматизация сбора потребностей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SRM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Автоматический расчет потребности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Исключение дефицита/избытка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Forecast Mgmt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Бюджетный контроль заявок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Финансовая дисциплина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1С:ERP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Формирование заказов поставщикам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Централизованное управление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1С:УХ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статусов поставок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Прозрачность логистики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ERP Logistics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Приемка товаров на склад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Автоматизация складского учета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1С:УТ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9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Маркировка единиц 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Прослеживаемость движения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EAN-13, Code-128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Учет движения товаров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Полный контроль местонахождения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1С:Бухгалтерия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Выдача инвентаря спортсменам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Ускорение выдачи, исключение ошибок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Системы проката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возврата 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Снижение потерь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Системы проката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Блокировка выдачи должникам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Сохранность имущества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Библиотечные системы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Автоматическое списание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Актуальность данных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EAM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Инвентаризация склада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сохранности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1С:Бухгалтерия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Отчеты для руководителя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Управленческие решения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BI-системы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17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Отчеты для бухгалтерии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Снижение трудозатрат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Товароучетные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18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История единицы инвентаря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Прозрачность использования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ERP Assets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19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Личный кабинет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Вовлеченность пользователей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CRM порталы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Управление поставщиками (SRM)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Оптимизация закупок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SRM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4" name="Text 9">
            <a:extLst>
              <a:ext uri="{FF2B5EF4-FFF2-40B4-BE49-F238E27FC236}">
                <a16:creationId xmlns:a16="http://schemas.microsoft.com/office/drawing/2014/main" id="{69A35B19-A91F-7E8A-5A6A-A64669B0A2E1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8EAEE7A5-AD8F-17BD-26C7-243650EDF70E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6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8">
            <a:extLst>
              <a:ext uri="{FF2B5EF4-FFF2-40B4-BE49-F238E27FC236}">
                <a16:creationId xmlns:a16="http://schemas.microsoft.com/office/drawing/2014/main" id="{0E7F5F97-78E5-0291-F7F6-0E497943963C}"/>
              </a:ext>
            </a:extLst>
          </p:cNvPr>
          <p:cNvSpPr/>
          <p:nvPr/>
        </p:nvSpPr>
        <p:spPr>
          <a:xfrm>
            <a:off x="8431619" y="5156198"/>
            <a:ext cx="6808380" cy="1812853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Liter" pitchFamily="34" charset="-120"/>
              </a:rPr>
              <a:t>ПР2 — Нефункциональные требования</a:t>
            </a:r>
            <a:endParaRPr lang="en-US" sz="30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808380" cy="3356049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015999" y="1587500"/>
            <a:ext cx="6256349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Liter" pitchFamily="34" charset="-120"/>
              </a:rPr>
              <a:t>Производительность и доступность</a:t>
            </a:r>
            <a:endParaRPr lang="en-US" sz="22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5999" y="2006600"/>
            <a:ext cx="6072339" cy="273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Многопользовательский доступ: 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50+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 пользователей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Ролевая модель разграничения прав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Круглосуточная доступность 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24/7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 (SLA 99.9%)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Время отклика интерфейса: 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&lt; 2 сек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Интуитивно понятный интерфейс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Надежность: uptime 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≥ 99.5%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Производительность отчетов: 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&lt; 2 мин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431619" y="1460500"/>
            <a:ext cx="6808381" cy="3276601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732899" y="1587501"/>
            <a:ext cx="607234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Liter" pitchFamily="34" charset="-120"/>
              </a:rPr>
              <a:t>Интеграция и масштабирование</a:t>
            </a:r>
            <a:endParaRPr lang="en-US" sz="22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32899" y="2006601"/>
            <a:ext cx="6072340" cy="2639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Интеграция с бухгалтерскими системами (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1С, SAP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Автоматическое резервное копирование (ежедневно)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Отказоустойчивость (резервирование серверов БД)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Масштабируемость (рост пользователей/данных)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Модульность архитектуры (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микросервисы, SOA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Кроссплатформенность (Chrome, Firefox, Safari, Edge)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Адаптивность для мобильных устройств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5152951"/>
            <a:ext cx="6808380" cy="18161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016000" y="5279951"/>
            <a:ext cx="6091708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Liter" pitchFamily="34" charset="-120"/>
              </a:rPr>
              <a:t>Безопасность и защита данных</a:t>
            </a:r>
            <a:endParaRPr lang="en-US" sz="22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5699051"/>
            <a:ext cx="6091708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Защита персональных данных (</a:t>
            </a: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152-ФЗ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Шифрование конфиденциальной информации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Аудит и логирование действий пользователей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5619" y="5245099"/>
            <a:ext cx="6091708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Liter" pitchFamily="34" charset="-120"/>
              </a:rPr>
              <a:t>Сопровождение и локализация</a:t>
            </a:r>
            <a:endParaRPr lang="en-US" sz="22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5619" y="5664199"/>
            <a:ext cx="6091708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Импортонезависимость (российское ПО из реестра)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Локализация: русский язык, российские форматы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Anonymous Pro" panose="02060609030202000504" pitchFamily="49" charset="0"/>
                <a:cs typeface="QuattrocentoSans" pitchFamily="34" charset="-120"/>
              </a:rPr>
              <a:t>Работа с торговым оборудованием</a:t>
            </a:r>
            <a:endParaRPr lang="en-US" sz="1600" dirty="0">
              <a:latin typeface="Tinkoff Sans" panose="02000506050000020004" pitchFamily="2" charset="0"/>
              <a:ea typeface="Anonymous Pro" panose="02060609030202000504" pitchFamily="49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9B9F0A5-4B97-5C0B-4E54-C2BA77736C61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AB61906-E0A6-CED4-5FB8-F18DB62FDBAC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7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ПР3 — Архитектура модулей и пользователи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 модуля АСУ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6858000" cy="889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89000" y="1968500"/>
            <a:ext cx="5715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24000" y="1968500"/>
            <a:ext cx="5905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Управление закупками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, планирование и бюджетный контроль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15 интерфейсных функций, 47 внутрисистемных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" y="2984500"/>
            <a:ext cx="6858000" cy="889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89000" y="2984500"/>
            <a:ext cx="5715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24000" y="2984500"/>
            <a:ext cx="5905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Складской учет</a:t>
            </a: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, логистика и управление имуществом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18 интерфейсных функций, 56 внутрисистемных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4000500"/>
            <a:ext cx="6858000" cy="889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889000" y="4000500"/>
            <a:ext cx="5715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24000" y="4000500"/>
            <a:ext cx="59055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Администрирование и отчетность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17 интерфейсных функций, 50 внутрисистемных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8000" y="1460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7 ролей пользователей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432203"/>
              </p:ext>
            </p:extLst>
          </p:nvPr>
        </p:nvGraphicFramePr>
        <p:xfrm>
          <a:off x="8128000" y="1968500"/>
          <a:ext cx="7366000" cy="4699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Роль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Основные функции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Спортсмен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Просмотр инвентаря, задолженности, заявки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Тренер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Создание заявок, просмотр остатков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Кладовщик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Приемка, выдача, возврат, инвентаризация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Менеджер по закупкам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Заказы, бюджет, поставщики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Руководитель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Утверждение, отчеты, аналитика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Бухгалтер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ОСВ, движение ТМЦ, выгрузка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Администратор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Пользователи, роли, настройки, бэкап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 9">
            <a:extLst>
              <a:ext uri="{FF2B5EF4-FFF2-40B4-BE49-F238E27FC236}">
                <a16:creationId xmlns:a16="http://schemas.microsoft.com/office/drawing/2014/main" id="{68E0847B-625A-A1FD-A214-E1EFE3B815DE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E409E36-CD3F-4867-696E-F1FFAA213847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8 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ПР3 — Модуль 1: Управление закупками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 и возможности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Сбор и агрегация заявок от тренеров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Автоматический расчет потребности в закупке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Многокомпонентный бюджетный контроль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Формирование и согласование заказов поставщикам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Ведение справочника поставщиков (SRM)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Мониторинг исполнения контрактов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Прогнозирование потребностей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572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Внутрисистемные функции (IS1–IS47)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50165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952500" y="50165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Заявки (IS1–IS18)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сохранение, проверка данных, определение бюджета, утверждение/отклонение с уведомлениями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58166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52500" y="58166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Планы и заказы (IS19–IS38)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расчет потребности, анализ остатков, резервирование бюджета, статусы поставок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66167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52500" y="66167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Аналитика (IS39–IS47)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рейтинг поставщиков, сравнение цен, динамика цен, история закупок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DAD7628-B3BC-D691-814F-AB575D289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4319" y="329100"/>
            <a:ext cx="4205886" cy="8196410"/>
          </a:xfrm>
          <a:prstGeom prst="roundRect">
            <a:avLst>
              <a:gd name="adj" fmla="val 4280"/>
            </a:avLst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5E808C18-7246-71CE-A687-9912E8E64BFC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D6BF0E1-8ECB-65AD-CD37-2E51EC351A34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9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ПР3 — Модуль 2: Складской учет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 и возможности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685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Приемка товаров по заказам с контролем качества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Генерация и печать штрих-кодов / QR-кодов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Учет движения товаров (приход, расход, перемещение)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Выдача инвентаря спортсменам и контроль возврата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Учет технического обслуживания (ремонт, смазка)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Проведение инвентаризации и анализ расхождений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318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Внутрисистемные функции (IS1–IS56)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48006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952500" y="48006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Приемка и маркировка (IS1–IS16)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сверка с заказом, приходные накладные, генерация штрих-кодов, акты расхождений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56007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52500" y="56007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Выдача и возврат (IS17–IS31)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проверка должников, привязка к спортсмену, документы выдачи/возврата, просрочки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64008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52500" y="64008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Управление и контроль (IS32–IS56)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списание, инвентаризация, перемещения, резервирование, ремонт, контроль качества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BA734A8-27E1-A42C-2D68-7543D700F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329100"/>
            <a:ext cx="3473273" cy="8196410"/>
          </a:xfrm>
          <a:prstGeom prst="roundRect">
            <a:avLst>
              <a:gd name="adj" fmla="val 3337"/>
            </a:avLst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2547682F-D389-3B41-017D-BE1D1688F3F0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AE99CA2-7BF1-8716-1248-2CDEBE8BAF48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10 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ПР3 — Модуль 3: Администрирование и отчетность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 и возможности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905000"/>
            <a:ext cx="685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Управление пользователями и ролями (разграничение прав)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Ведение единых справочников (номенклатура, контрагенты)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Формирование управленческих отчетов (ОСВ, анализ закупок)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Формирование отчетов для бухгалтерии (движение ТМЦ)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Просмотр и анализ логов действий пользователей (аудит)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E8ECF1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Настройка параметров системы и резервного копирования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318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Внутрисистемные функции (IS1–IS50)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2000" y="48006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952500" y="48006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Пользователи и справочники (IS1–IS17)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создание учетных записей, назначение ролей, ведение номенклатуры и контрагентов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56007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52500" y="56007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Отчетность (IS18–IS46)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закупки план/факт, ОСВ, движение ТМЦ, дебиторы, статистика использования, износ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6400800"/>
            <a:ext cx="6858000" cy="698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52500" y="6400800"/>
            <a:ext cx="6477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Аудит и настройки (IS47–IS50)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логирование действий, настройка маршрутов согласования, резервное копирование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6924C77-6E8A-6E97-FD0E-A86992B62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8922" y="329100"/>
            <a:ext cx="3511283" cy="8196410"/>
          </a:xfrm>
          <a:prstGeom prst="roundRect">
            <a:avLst>
              <a:gd name="adj" fmla="val 3152"/>
            </a:avLst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7A7A4278-5D26-FB22-B429-7111F5384087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2A57E50-F614-D4A1-15D3-52E86A7D8535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ПР4 — Диаграммы последовательности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07503" y="14605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98003" y="15875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06003" y="158750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Формирование и согласование заявки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715000" y="3830995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905500" y="3957995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13500" y="3957995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Приемка и маркировка инвентаря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60597" y="1460500"/>
            <a:ext cx="4826000" cy="6350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0951097" y="15875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59097" y="1587500"/>
            <a:ext cx="4089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Выдача инвентаря и контроль возврата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BC01DEF-B364-3681-8527-7DF376E1E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06" y="2451100"/>
            <a:ext cx="4791494" cy="3372589"/>
          </a:xfrm>
          <a:prstGeom prst="roundRect">
            <a:avLst>
              <a:gd name="adj" fmla="val 5341"/>
            </a:avLst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4F89150-E897-1A72-38D8-CCF867955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571" y="4778993"/>
            <a:ext cx="4838857" cy="3624228"/>
          </a:xfrm>
          <a:prstGeom prst="roundRect">
            <a:avLst>
              <a:gd name="adj" fmla="val 4530"/>
            </a:avLst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F3BC955-45E0-2031-D68C-71D1BF722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2505" y="2451100"/>
            <a:ext cx="4983564" cy="3173199"/>
          </a:xfrm>
          <a:prstGeom prst="roundRect">
            <a:avLst>
              <a:gd name="adj" fmla="val 6089"/>
            </a:avLst>
          </a:prstGeom>
        </p:spPr>
      </p:pic>
      <p:sp>
        <p:nvSpPr>
          <p:cNvPr id="7" name="Text 9">
            <a:extLst>
              <a:ext uri="{FF2B5EF4-FFF2-40B4-BE49-F238E27FC236}">
                <a16:creationId xmlns:a16="http://schemas.microsoft.com/office/drawing/2014/main" id="{97FE4262-39E4-6C0E-71ED-8D6413923B52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117CE3C-FBF9-7CCA-2A49-6D2B863EB76B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ПР4 — Диаграмма классов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16 классов в 3 пакетах</a:t>
            </a: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| Связи: наследование, ассоциация, композиция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89AA88D-BCD6-CD17-27C6-A5288B05A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77116"/>
            <a:ext cx="8935179" cy="6072368"/>
          </a:xfrm>
          <a:prstGeom prst="roundRect">
            <a:avLst>
              <a:gd name="adj" fmla="val 3134"/>
            </a:avLst>
          </a:prstGeom>
        </p:spPr>
      </p:pic>
      <p:sp>
        <p:nvSpPr>
          <p:cNvPr id="19" name="Shape 3"/>
          <p:cNvSpPr/>
          <p:nvPr/>
        </p:nvSpPr>
        <p:spPr>
          <a:xfrm>
            <a:off x="9882850" y="1777116"/>
            <a:ext cx="2918749" cy="3457375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4"/>
          <p:cNvSpPr/>
          <p:nvPr/>
        </p:nvSpPr>
        <p:spPr>
          <a:xfrm>
            <a:off x="10073350" y="1904117"/>
            <a:ext cx="2566204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«Пользователи»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1" name="Text 5"/>
          <p:cNvSpPr/>
          <p:nvPr/>
        </p:nvSpPr>
        <p:spPr>
          <a:xfrm>
            <a:off x="10073350" y="2323217"/>
            <a:ext cx="2566204" cy="281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Пользователь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(абстрактный)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Наследники (7 классов):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Спортсмен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Тренер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Кладовщик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МенеджерПоЗакупкам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Руководитель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Бухгалтер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Администратор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9882850" y="5568389"/>
            <a:ext cx="5925917" cy="2287527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7"/>
          <p:cNvSpPr/>
          <p:nvPr/>
        </p:nvSpPr>
        <p:spPr>
          <a:xfrm>
            <a:off x="10073351" y="5695389"/>
            <a:ext cx="400902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«Закупки и планирование»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4" name="Text 8"/>
          <p:cNvSpPr/>
          <p:nvPr/>
        </p:nvSpPr>
        <p:spPr>
          <a:xfrm>
            <a:off x="10073350" y="6114489"/>
            <a:ext cx="5564047" cy="16460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ЗаявкаНаИнвентарь</a:t>
            </a:r>
            <a:r>
              <a:rPr lang="ru-RU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→ ПозицияЗаявки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(композиция 1→1..*)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ПозицияЗаявки</a:t>
            </a:r>
            <a:r>
              <a:rPr lang="ru-RU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→ Номенклатура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(ассоциация)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 err="1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ЗаказПоставщику</a:t>
            </a:r>
            <a:r>
              <a:rPr lang="ru-RU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→ Поставщик, Менеджер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Поставщик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Рейтинг, история заказов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Номенклатура</a:t>
            </a: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Артикул, категория, мин. остаток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13131157" y="1777117"/>
            <a:ext cx="2677610" cy="2857500"/>
          </a:xfrm>
          <a:prstGeom prst="roundRect">
            <a:avLst>
              <a:gd name="adj" fmla="val 6000"/>
            </a:avLst>
          </a:prstGeom>
          <a:solidFill>
            <a:srgbClr val="181B24"/>
          </a:solidFill>
          <a:ln w="12700">
            <a:noFill/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10"/>
          <p:cNvSpPr/>
          <p:nvPr/>
        </p:nvSpPr>
        <p:spPr>
          <a:xfrm>
            <a:off x="13321657" y="1904117"/>
            <a:ext cx="248711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0E5C9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Пакет «Склад и учет»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13321657" y="2323217"/>
            <a:ext cx="2487110" cy="214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ЕдиницаИнвентаря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— Штрихкод, статус, история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ВыдачаИнвентаря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→ Спортсмен, Кладовщик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8ECF1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ПриходнаяНакладная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E5C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→ Заказ, Кладовщик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E36EC603-94A5-88B9-4A4B-C91E66E8BF83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ADBD9773-F252-3834-6005-6DBE9E68ADEB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ПР5 — Аппаратное обеспечение АСУ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62887"/>
              </p:ext>
            </p:extLst>
          </p:nvPr>
        </p:nvGraphicFramePr>
        <p:xfrm>
          <a:off x="762000" y="1397000"/>
          <a:ext cx="14732000" cy="71120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Оборудование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Тип / Модель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Кол-во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БД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Intel Xeon Silver 4309Y, 32GB RAM, 2xSSD 480GB RAID1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Хранение данных, транзакции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приложений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Intel Xeon Silver 4310, 32GB RAM, SSD 1TB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Бизнес-логика, API, веб-сервер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резервного копирования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2x HDD 4TB RAID1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Резервное копирование БД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Сетевое оборудование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Коммутатор L3 (Cisco Catalyst 9300)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Сетевая связность 24/7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Межсетевой экран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UserGate / Ideco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Защита от НСД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аналитики (OLAP)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Intel Xeon Silver 4309Y, 64GB RAM, SSD 2TB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Аналитика, отчеты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Хранилище данных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СХД 2x HDD 4TB RAID1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Долгосрочное хранение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ETL-сервер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Виртуальная машина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OLTP → OLAP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Веб-сервер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Виртуальная машина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Веб-интерфейс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ТСД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Zebra TC21 (сканер штрих-кода)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Приемка, выдача, инвентаризация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Принтер этикеток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Zebra ZD421 (термотрансферный)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Печать штрих-кодов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АРМ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Рабочие станции (ПК)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8-10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Работа пользователей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664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Мобильные устройства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Планшеты / смартфоны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10+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Личные кабинеты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901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3.6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Защищенный планшет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Getac T800 / Panasonic Toughpad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2-3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Работа тренера на трассе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Text 9">
            <a:extLst>
              <a:ext uri="{FF2B5EF4-FFF2-40B4-BE49-F238E27FC236}">
                <a16:creationId xmlns:a16="http://schemas.microsoft.com/office/drawing/2014/main" id="{45A900E8-FFC8-DDC2-4A85-61175799031B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9023CE74-3ACB-A999-C92F-2FF557784841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ПР5 — Программное обеспечение АСУ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802240"/>
              </p:ext>
            </p:extLst>
          </p:nvPr>
        </p:nvGraphicFramePr>
        <p:xfrm>
          <a:off x="762000" y="1397000"/>
          <a:ext cx="14732000" cy="7112004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Наименование ПО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Версия / Тип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D0F14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Операционная система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Astra Linux Special Edition / Red OS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Базовая ОС серверов (импортозамещение)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СУБД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PostgreSQL 17 / Postgres Pro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Хранение данных, транзакции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приложений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Spring Boot (Java 21) / .NET Core 8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Бизнес-логика, REST API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Веб-сервер (Frontend)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React.js / Vue.js (SPA)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Пользовательский интерфейс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Резервное копирование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 / Veeam Backup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Автоматический бэкап БД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1.6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Мониторинг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Zabbix / Prometheus + Grafana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Мониторинг серверов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1.7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Контейнеризация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Docker + Docker Compose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Микросервисы, масштабирование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OLAP-сервер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ClickHouse / Apache Druid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Аналитическая обработка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ETL-инструмент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Apache NiFi / Talend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Извлечение, трансформация, загрузка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BI-платформа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Redash / Apache Superset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Визуализация, дашборды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2.4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Прогнозирование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Python (pandas, scikit-learn)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Прогноз потребностей в закупках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3.1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Веб-сервер (Reverse Proxy)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Nginx / Apache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Проксирование, балансировка, SSL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3.2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аутентификации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Keycloak / WSO2 Identity Server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SSO, MFA, ролевая модель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3.3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API-шлюз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Kong / Apache APISIX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Управление API, rate limiting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198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3.4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Офисный пакет (АРМ)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LibreOffice / Р7-Офис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Просмотр и экспорт отчетов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9440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3.5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Мобильное приложение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React PWA + IndexedDB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CF1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Работа офлайн, синхронизация</a:t>
                      </a:r>
                      <a:endParaRPr lang="en-US" sz="14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Text 9">
            <a:extLst>
              <a:ext uri="{FF2B5EF4-FFF2-40B4-BE49-F238E27FC236}">
                <a16:creationId xmlns:a16="http://schemas.microsoft.com/office/drawing/2014/main" id="{33D9326F-C895-8355-2068-FE1199E22AC3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978EF19A-C790-05C7-8E7B-14F0DB49BE0C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Выбранная функция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Функция 1.7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«Формирование плана закупок на период» (Модуль 1)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Обоснование: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Высокая алгоритмическая сложность (ML, временные ряды)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Сезонность лыжного спорта (авг–окт / ноя–мар / апр–июл)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Экономическая значимость прогнозов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Нет готовых решений для износа лыжного инвентаря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Сравнение языков программирования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697818"/>
              </p:ext>
            </p:extLst>
          </p:nvPr>
        </p:nvGraphicFramePr>
        <p:xfrm>
          <a:off x="8382000" y="1714500"/>
          <a:ext cx="7112000" cy="2540000"/>
        </p:xfrm>
        <a:graphic>
          <a:graphicData uri="http://schemas.openxmlformats.org/drawingml/2006/table">
            <a:tbl>
              <a:tblPr/>
              <a:tblGrid>
                <a:gridCol w="156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Язык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Преимущества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Применимость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Богатая ML-экосистема, быстрая разработка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Высокая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Специализация на статистике, отличная визуализация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Средняя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Java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Высокая производительность, интеграция с Spring Boot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Средняя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Julia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Высокая производительность, математический синтаксис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Низкая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2000" y="4572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4635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Выбор: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Python 3.12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Prophet, statsmodels, scikit-learn для прогнозирования; pandas для ETL; интеграция с Java-бэкендом через REST API; Jupyter Notebook для прототипирования; соответствует архитектуре ПР5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2000" y="5905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Внутрисистемные функции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2000" y="63500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1.IS19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Запуск алгоритма расчёта потребности (анализ утверждённых заявок)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1.IS20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Анализ текущих остатков на складе по каждой позиции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1.IS21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Учёт минимальных страховых запасов при расчёте потребности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1.IS22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Генерация проекта плана закупок с группировкой по номенклатуре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6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171B7608-935B-CD09-B1E4-CC328C184706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Выбор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функции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языка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программирования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0ABBF4AD-9698-040D-9E0C-58904184DFAE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IDE: PyCharm Professional 2026.1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Бесплатная лицензия для студентов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Встроенная поддержка Jupyter Notebook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Интеграция с PostgreSQL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Отладка DataFrame в табличном виде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Автодополнение для pandas, numpy, sklearn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Выбранные библиотеки Python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138589"/>
              </p:ext>
            </p:extLst>
          </p:nvPr>
        </p:nvGraphicFramePr>
        <p:xfrm>
          <a:off x="8382000" y="1714500"/>
          <a:ext cx="7112000" cy="2730504"/>
        </p:xfrm>
        <a:graphic>
          <a:graphicData uri="http://schemas.openxmlformats.org/drawingml/2006/table">
            <a:tbl>
              <a:tblPr/>
              <a:tblGrid>
                <a:gridCol w="199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Библиотека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Версия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Назначение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pandas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2.2.0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Обработка и анализ данных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numpy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1.26.0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Численные вычисления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statsmodels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0.14.1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Holt-Winters эксп. сглаживание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scikit-learn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1.4.0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Метрики качества прогноза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psycopg2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2.9.9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Подключение к PostgreSQL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sqlalchemy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2.0.25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ORM для работы с БД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joblib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1.3.2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Сериализация моделей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482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Структура модуля прогнозирования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62000" y="5334000"/>
            <a:ext cx="3429000" cy="1016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0" name="Text 7"/>
          <p:cNvSpPr/>
          <p:nvPr/>
        </p:nvSpPr>
        <p:spPr>
          <a:xfrm>
            <a:off x="889000" y="5397500"/>
            <a:ext cx="3175000" cy="889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config.py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Конфигурация БД и прогноза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318000" y="5778500"/>
            <a:ext cx="3810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4826000" y="5334000"/>
            <a:ext cx="3429000" cy="1016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3" name="Text 10"/>
          <p:cNvSpPr/>
          <p:nvPr/>
        </p:nvSpPr>
        <p:spPr>
          <a:xfrm>
            <a:off x="4953000" y="5397500"/>
            <a:ext cx="3175000" cy="889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database.py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Работа с PostgreSQL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382000" y="5778500"/>
            <a:ext cx="3810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5" name="Shape 12"/>
          <p:cNvSpPr/>
          <p:nvPr/>
        </p:nvSpPr>
        <p:spPr>
          <a:xfrm>
            <a:off x="8890000" y="5334000"/>
            <a:ext cx="3429000" cy="1016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6" name="Text 13"/>
          <p:cNvSpPr/>
          <p:nvPr/>
        </p:nvSpPr>
        <p:spPr>
          <a:xfrm>
            <a:off x="9017000" y="5397500"/>
            <a:ext cx="3175000" cy="889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forecast_model.py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 Holt-Winters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2446000" y="5778500"/>
            <a:ext cx="3810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8" name="Shape 15"/>
          <p:cNvSpPr/>
          <p:nvPr/>
        </p:nvSpPr>
        <p:spPr>
          <a:xfrm>
            <a:off x="12954000" y="5334000"/>
            <a:ext cx="2540000" cy="1016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9" name="Text 16"/>
          <p:cNvSpPr/>
          <p:nvPr/>
        </p:nvSpPr>
        <p:spPr>
          <a:xfrm>
            <a:off x="13081000" y="5397500"/>
            <a:ext cx="2286000" cy="889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main.py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Запуск и оценка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62000" y="6667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Алгоритм прогнозирования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62000" y="7112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ExponentialSmoothing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(statsmodels.tsa.holtwinters) — адаптивное экспоненциальное сглаживание с учётом тренда и сезонности. Параметры подбираются автоматически в зависимости от объёма исторических данных: seasonal_periods от 3 до 7, trend/seasonal — по наличию данных. Fallback: при недостатке данных (&lt; 30 точек) используется среднее значение.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79CE6C6D-9B4C-AABC-90A9-48AA7A711FA5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Выбор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IDE,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библиотек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структура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модуля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5252B3AB-425D-59DD-579F-F912011CCD6C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C8E03CFD-245E-0AC0-AC31-593D37BC86FD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18C267BE-45AF-518C-A0AA-510ECFFB859F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7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Поток выполнения модуля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2159000" cy="1016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6" name="Text 4"/>
          <p:cNvSpPr/>
          <p:nvPr/>
        </p:nvSpPr>
        <p:spPr>
          <a:xfrm>
            <a:off x="825500" y="1841500"/>
            <a:ext cx="2032000" cy="889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Подключение к PostgreSQL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048000" y="2184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492500" y="1778000"/>
            <a:ext cx="2159000" cy="1016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9" name="Text 7"/>
          <p:cNvSpPr/>
          <p:nvPr/>
        </p:nvSpPr>
        <p:spPr>
          <a:xfrm>
            <a:off x="3556000" y="1841500"/>
            <a:ext cx="2032000" cy="889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Загрузка истории расхода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78500" y="2184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223000" y="1778000"/>
            <a:ext cx="2159000" cy="889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2" name="Text 10"/>
          <p:cNvSpPr/>
          <p:nvPr/>
        </p:nvSpPr>
        <p:spPr>
          <a:xfrm>
            <a:off x="6286500" y="1841500"/>
            <a:ext cx="203200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Обучение модели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09000" y="2184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953500" y="1778000"/>
            <a:ext cx="2159000" cy="889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5" name="Text 13"/>
          <p:cNvSpPr/>
          <p:nvPr/>
        </p:nvSpPr>
        <p:spPr>
          <a:xfrm>
            <a:off x="9017000" y="1841500"/>
            <a:ext cx="203200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Прогноз на 90 дней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239500" y="2184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684000" y="1778000"/>
            <a:ext cx="2159000" cy="889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8" name="Text 16"/>
          <p:cNvSpPr/>
          <p:nvPr/>
        </p:nvSpPr>
        <p:spPr>
          <a:xfrm>
            <a:off x="11747500" y="1841500"/>
            <a:ext cx="2032000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Оценка метрик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3970000" y="2184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4414500" y="1778000"/>
            <a:ext cx="1079500" cy="1016000"/>
          </a:xfrm>
          <a:prstGeom prst="roundRect">
            <a:avLst>
              <a:gd name="adj" fmla="val 5000"/>
            </a:avLst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14478000" y="1841500"/>
            <a:ext cx="95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000000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000000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Сохранение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2000" y="3335088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Адаптивные параметры модели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2000" y="3779588"/>
            <a:ext cx="711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 автоматически выбирает параметры в зависимости от объёма данных: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&lt; 14 точек: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seasonal_periods=3, без сезонности и тренда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14–29 точек: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seasonal_periods=5, сезонность вкл.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30–59 точек: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seasonal_periods=7, сезонность вкл.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≥ 60 точек: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seasonal_periods=7, сезонность + тренд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Fallback: при &lt; 30 точек — среднее значение ряда.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82000" y="3335088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Метрики качества прогноза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023664"/>
              </p:ext>
            </p:extLst>
          </p:nvPr>
        </p:nvGraphicFramePr>
        <p:xfrm>
          <a:off x="8382000" y="3779588"/>
          <a:ext cx="7112000" cy="2032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Метрика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Описание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Интерпретация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MAE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Средняя абс. ошибка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Среднее отклонение в шт.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MAPE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Средняя % ошибка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Точность прогноза в %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RMSE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Кв. корень из MSE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Штраф за большие ошибки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762000" y="673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Интеграция с АСУП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62000" y="71755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Модуль интегрируется с Java-бэкендом (Spring Boot) через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REST API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или экспорт модели в формат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PMML/ONNX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. Обученная модель сохраняется с помощью joblib и может быть загружена для повторного использования без переобучения. Логирование процесса прогнозирования выполняется через loguru.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8075D0E6-FC75-A246-EE8A-C234D997A23E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ПР6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Архитектура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модуля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прогнозирования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832783F7-C7C1-0F1A-BE1F-AD6C68D241C5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AC586863-4222-433C-67BA-72F211C3D5E4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A16BAA17-B488-4C7D-3FAA-5FE364505BB1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8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2">
            <a:extLst>
              <a:ext uri="{FF2B5EF4-FFF2-40B4-BE49-F238E27FC236}">
                <a16:creationId xmlns:a16="http://schemas.microsoft.com/office/drawing/2014/main" id="{0466FD83-ECBE-BA93-09A2-5AF309961CA2}"/>
              </a:ext>
            </a:extLst>
          </p:cNvPr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19 таблиц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в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 логических группах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со связями 1:1, 1:M, M:N через внешние ключи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7C0FF8BB-A67B-37D6-E918-6AEC2CE7ED34}"/>
              </a:ext>
            </a:extLst>
          </p:cNvPr>
          <p:cNvSpPr/>
          <p:nvPr/>
        </p:nvSpPr>
        <p:spPr>
          <a:xfrm>
            <a:off x="762000" y="1841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Пользователи (8)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C32AE10-CEB4-621C-360C-0EF626C68278}"/>
              </a:ext>
            </a:extLst>
          </p:cNvPr>
          <p:cNvSpPr/>
          <p:nvPr/>
        </p:nvSpPr>
        <p:spPr>
          <a:xfrm>
            <a:off x="762000" y="2222500"/>
            <a:ext cx="2743200" cy="263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user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athlete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coach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storekeeper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purchase_manager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manager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accountant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administrator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BCB29C23-BFEE-7DD9-FE7B-5F38A5AB21D9}"/>
              </a:ext>
            </a:extLst>
          </p:cNvPr>
          <p:cNvSpPr/>
          <p:nvPr/>
        </p:nvSpPr>
        <p:spPr>
          <a:xfrm>
            <a:off x="3759200" y="1841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Справочники (4)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F1B31B03-3B72-89C4-D1BD-9EA8213D6B22}"/>
              </a:ext>
            </a:extLst>
          </p:cNvPr>
          <p:cNvSpPr/>
          <p:nvPr/>
        </p:nvSpPr>
        <p:spPr>
          <a:xfrm>
            <a:off x="3759200" y="2222500"/>
            <a:ext cx="2743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nomenclature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supplier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warehouse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group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F4F97A82-F494-1743-ADD3-5845CA79F878}"/>
              </a:ext>
            </a:extLst>
          </p:cNvPr>
          <p:cNvSpPr/>
          <p:nvPr/>
        </p:nvSpPr>
        <p:spPr>
          <a:xfrm>
            <a:off x="6756400" y="1841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Закупки (3)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52F5EF24-3A7C-E368-12F2-E7100896CB72}"/>
              </a:ext>
            </a:extLst>
          </p:cNvPr>
          <p:cNvSpPr/>
          <p:nvPr/>
        </p:nvSpPr>
        <p:spPr>
          <a:xfrm>
            <a:off x="6756400" y="2222500"/>
            <a:ext cx="2743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purchase_request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purchase_request_item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purchase_order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7FBB219F-878B-FB85-95C4-9A4EE41CDB23}"/>
              </a:ext>
            </a:extLst>
          </p:cNvPr>
          <p:cNvSpPr/>
          <p:nvPr/>
        </p:nvSpPr>
        <p:spPr>
          <a:xfrm>
            <a:off x="9753600" y="1841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Склад (3)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BA45F21-ACDB-5B40-D44D-045D89BA3D00}"/>
              </a:ext>
            </a:extLst>
          </p:cNvPr>
          <p:cNvSpPr/>
          <p:nvPr/>
        </p:nvSpPr>
        <p:spPr>
          <a:xfrm>
            <a:off x="9753600" y="2222500"/>
            <a:ext cx="2743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inventory_item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receipt_invoice</a:t>
            </a:r>
            <a:endParaRPr lang="en-US" sz="1600" dirty="0">
              <a:latin typeface="Tinkoff Sans" panose="02000506050000020004" pitchFamily="2" charset="0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issuance_document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F3CF44A1-5D48-3F98-8732-211F2F998154}"/>
              </a:ext>
            </a:extLst>
          </p:cNvPr>
          <p:cNvSpPr/>
          <p:nvPr/>
        </p:nvSpPr>
        <p:spPr>
          <a:xfrm>
            <a:off x="12750800" y="1841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Вспомогат. (1)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8548823E-9566-570A-1652-0C3D3FB72832}"/>
              </a:ext>
            </a:extLst>
          </p:cNvPr>
          <p:cNvSpPr/>
          <p:nvPr/>
        </p:nvSpPr>
        <p:spPr>
          <a:xfrm>
            <a:off x="12750800" y="2222500"/>
            <a:ext cx="2743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operation_log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CFDAE0D-7397-CC6E-4517-C8E012E50C0C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ПР7 — </a:t>
            </a:r>
            <a:r>
              <a:rPr lang="ru-RU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Выделение таблиц БД из классов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C57FD002-551C-557A-F561-7CA969EFA64F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9915438-9640-0AF6-F078-DB5B8F9131A9}"/>
              </a:ext>
            </a:extLst>
          </p:cNvPr>
          <p:cNvSpPr/>
          <p:nvPr/>
        </p:nvSpPr>
        <p:spPr>
          <a:xfrm>
            <a:off x="762000" y="5842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Ключевые связи между таблицами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2240D167-6359-BC3C-8B4F-8A245A962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555938"/>
              </p:ext>
            </p:extLst>
          </p:nvPr>
        </p:nvGraphicFramePr>
        <p:xfrm>
          <a:off x="762000" y="6286500"/>
          <a:ext cx="14732000" cy="2032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 err="1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Родительская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Дочерняя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Тип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Внешний ключ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ON DELETE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athlete, coach, storekeeper...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1:1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*_user_id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coach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athlete, group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1:M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*_coach_id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SET NULL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nomenclature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inventory_item, request_item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1:M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*_nomenclature_id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RESTRICT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purchase_request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purchase_request_item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1:M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*_request_id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 9">
            <a:extLst>
              <a:ext uri="{FF2B5EF4-FFF2-40B4-BE49-F238E27FC236}">
                <a16:creationId xmlns:a16="http://schemas.microsoft.com/office/drawing/2014/main" id="{4FF6E6C1-890D-C2CF-28B7-748E1CA4E724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3EE17C70-59B6-D98C-AE5D-9A2EEF4C22BE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9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288843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Главная таблица </a:t>
            </a: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«user»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33343"/>
            <a:ext cx="149250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Базовый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ru-RU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таблица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 </a:t>
            </a:r>
            <a:r>
              <a:rPr lang="en-US" sz="1600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общими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ru-RU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полями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sz="16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user_id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6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full_name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, email, phone, login, </a:t>
            </a:r>
            <a:r>
              <a:rPr lang="en-US" sz="16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password_hash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, role, </a:t>
            </a:r>
            <a:r>
              <a:rPr lang="en-US" sz="16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registration_date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6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is_active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6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user_created_at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16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user_updated_at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2639118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7 ролей пользователей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947005"/>
              </p:ext>
            </p:extLst>
          </p:nvPr>
        </p:nvGraphicFramePr>
        <p:xfrm>
          <a:off x="762000" y="3083618"/>
          <a:ext cx="14660880" cy="3403600"/>
        </p:xfrm>
        <a:graphic>
          <a:graphicData uri="http://schemas.openxmlformats.org/drawingml/2006/table">
            <a:tbl>
              <a:tblPr/>
              <a:tblGrid>
                <a:gridCol w="308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Роль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Поля, расширяющие </a:t>
                      </a:r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user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athlete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athlete_id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user_id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sport_category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birth_year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group_id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coach_id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charset="0"/>
                        </a:rPr>
                        <a:t>has_active_debt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coach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coach_id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specialization,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coach_category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storekeeper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storekeeper_id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warehouse_id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certificate_number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purchase_manager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purchase_manager_id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department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manager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manager_id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position,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manager_access_level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accountant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accountant_id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section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administrator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administrator_id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</a:t>
                      </a:r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administrator_access_level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0">
            <a:extLst>
              <a:ext uri="{FF2B5EF4-FFF2-40B4-BE49-F238E27FC236}">
                <a16:creationId xmlns:a16="http://schemas.microsoft.com/office/drawing/2014/main" id="{67D3F8B2-2B21-E484-F62C-FCC347ACB1C0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ПР7 — </a:t>
            </a:r>
            <a:r>
              <a:rPr lang="ru-RU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Таблицы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пользователей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их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свойства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2CA6194A-08A6-0A86-7B79-BBCEC93D89FA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BA69FC85-B486-1835-1DAE-5F7539F86440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E2E6A583-585B-F189-AF77-4A7014DAE746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20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92DADC82-2ECB-27FF-805F-83CBB08E186D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ПР7 — ER-</a:t>
            </a:r>
            <a:r>
              <a:rPr lang="ru-RU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диаграмма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базы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данных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8E103B75-530B-31EA-7E7E-22C849B3E86A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68D440F-55EF-FDF6-36A7-1ECFA0086C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2517" y="1390967"/>
            <a:ext cx="14070965" cy="7062546"/>
          </a:xfrm>
          <a:prstGeom prst="roundRect">
            <a:avLst>
              <a:gd name="adj" fmla="val 4008"/>
            </a:avLst>
          </a:prstGeom>
          <a:noFill/>
          <a:ln>
            <a:noFill/>
          </a:ln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97C79E23-8BAC-F603-2813-5C3D6EFB739A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155BACFF-D2CB-B79C-F913-AB45B552F3F6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21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Сравнительный анализ СУБД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286005"/>
              </p:ext>
            </p:extLst>
          </p:nvPr>
        </p:nvGraphicFramePr>
        <p:xfrm>
          <a:off x="762000" y="17145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Критерий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PostgreSQL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MySQL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MS SQL Server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SQL-стандарты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Высокое (SQL:2016)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Среднее (SQL:2003)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T-SQL (диалект)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JSON/JSONB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Отличная (JSONB + GIN)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Хорошая (JSON)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Хорошая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Репликация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Встроенная, гибкая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Встроенная, огранич.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Always On (Enterprise)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Импортозамещение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 (Postgres Pro)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Нет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Нет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Стоимость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Бесплатно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Бесплатно / Платно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Платно / Express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Кроссплатформ.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Linux, Win, macOS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Linux, Win, macOS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Windows, Linux (огр.)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Сообщество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Активное, русскояз.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Огромное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Хорошее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588000"/>
            <a:ext cx="14732000" cy="97536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65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Выбор: PostgreSQL 17.5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6000" y="6032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Импортозамещение (в реестре отечественного ПО), JSONB для аудита, кроссплатформенность (Astra Linux), расширяемость (PostGIS), строгое следование SQL-стандартам, бесплатность.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F226F6B-A486-61E2-CDB3-B53207058CBD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ПР8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Выбор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обоснование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СУБД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B098BBAD-8CFE-8E0C-0576-BF6E594C947F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17D92062-3E44-8BCC-2C92-E53F381E3D68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912A4590-FAFB-4760-567B-DD90F6045B60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22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9224010" y="1252220"/>
            <a:ext cx="59359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Графическое отображение структуры БД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Особенности структуры БД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Скрипт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create_tables.sql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создаёт 19 таблиц с ограничениями: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PRIMARY KEY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уникальный идентификатор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FOREIGN KEY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связи между таблицами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CHECK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роли, типы складов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UNIQUE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email, login, артикул, ИНН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NOT NULL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обязательные поля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DEFAULT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NOW(), TRUE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ON DELETE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CASCADE / SET NULL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434842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Таблицы пользователей (пример)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045103"/>
              </p:ext>
            </p:extLst>
          </p:nvPr>
        </p:nvGraphicFramePr>
        <p:xfrm>
          <a:off x="762000" y="4879342"/>
          <a:ext cx="7112000" cy="2539998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Таблица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Ключ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Связь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ON DELETE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 PK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athlete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athlete_id PK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 FK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coach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coach_id PK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 FK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storekeeper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storekeeper_id PK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 FK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purchase_manager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pm_id PK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user_id FK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CASCADE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0">
            <a:extLst>
              <a:ext uri="{FF2B5EF4-FFF2-40B4-BE49-F238E27FC236}">
                <a16:creationId xmlns:a16="http://schemas.microsoft.com/office/drawing/2014/main" id="{2508B092-C975-FAA2-10C8-9E27D6BC3126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ПР8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Создание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структуры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базы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данных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EE9DE1D3-CD46-ACEB-93D3-CEEA9CA68203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EF07BDE-A68C-4181-6184-295924358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4010" y="1766570"/>
            <a:ext cx="5935980" cy="6499860"/>
          </a:xfrm>
          <a:prstGeom prst="roundRect">
            <a:avLst>
              <a:gd name="adj" fmla="val 4172"/>
            </a:avLst>
          </a:prstGeom>
          <a:noFill/>
          <a:ln>
            <a:noFill/>
          </a:ln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6758B571-93CA-ED70-4882-DC63D47C142C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7FD33B61-2F20-287F-8517-BDA76FCD8ABB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23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Тестовые данные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Скрипт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insert_data.sql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заполняет БД тестовыми данными: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15 спортсменов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 разрядами и группами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 тренера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со специализациями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 кладовщика, 2 менеджера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 руководитель, 1 бухгалтер, 1 админ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10 номенклатур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(лыжи, ботинки, палки...)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 поставщиков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 рейтингами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 склада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(основной, резервный)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20+ единиц инвентаря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со штрихкодами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Заявки, заказы, накладные, выдачи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0" y="1270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Поисковый запрос: должники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82000" y="1714500"/>
            <a:ext cx="711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Запрос находит спортсменов с просроченным инвентарём: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JOIN 7 таблиц: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athlete → user (ФИО, контакты)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group (название группы)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coach → user (имя тренера)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issuance_document (выдачи)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inventory_item (штрихкод)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nomenclature (наименование)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Фильтры: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Статус ACTIVE или OVERDUE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3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planned_return_date &lt; CURRENT_DATE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350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Агрегация:</a:t>
            </a: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STRING_AGG просроченных items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Результат выполнения запроса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88D5ECA0-1BC9-38B5-A94C-300FD07DFDE4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ПР8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Заполнение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данными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поисковые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запросы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83C3015C-29D8-BAA1-490A-6DA40562EBB9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F2C25C7-9156-ABAA-1436-16E2CA63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5880100"/>
            <a:ext cx="14815181" cy="2057400"/>
          </a:xfrm>
          <a:prstGeom prst="roundRect">
            <a:avLst>
              <a:gd name="adj" fmla="val 3828"/>
            </a:avLst>
          </a:prstGeom>
        </p:spPr>
      </p:pic>
      <p:sp>
        <p:nvSpPr>
          <p:cNvPr id="2" name="Text 9">
            <a:extLst>
              <a:ext uri="{FF2B5EF4-FFF2-40B4-BE49-F238E27FC236}">
                <a16:creationId xmlns:a16="http://schemas.microsoft.com/office/drawing/2014/main" id="{7732674D-C18E-64F6-6519-03AAA2ED4381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A48C3345-4C83-3432-ACD2-B148459F4417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24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091699"/>
              </p:ext>
            </p:extLst>
          </p:nvPr>
        </p:nvGraphicFramePr>
        <p:xfrm>
          <a:off x="762000" y="1270000"/>
          <a:ext cx="14732000" cy="431800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7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Параметр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Сервер БД и приложений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Сервер аналитики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Сервер резервного копирования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Процессор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Intel Xeon Silver 4310 (12 ядер, 24 потока, 2.1 ГГц)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Intel Xeon Silver 4310 (12 ядер, 24 потока, 2.1 ГГц)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Intel Xeon E-2336 (6 ядер, 12 потоков, 2.9 ГГц)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RAM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16 GB DDR4 ECC Registered (2×8 GB)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16 GB DDR4 ECC Registered (2×8 GB)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8 GB DDR4 ECC (2×4 GB)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Диски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2×240 GB SSD NVMe, RAID 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2×240 GB SSD NVMe, RAID 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2×2 TB HDD SATA, RAID 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97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Astra Linux SE, Docker Compose (PostgreSQL + Spring Boot + Nginx)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Astra Linux SE, Python, statsmodels, ClickHouse, BI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Astra Linux SE, Bacula / Veeam Backup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905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Расчёт ресурсов </a:t>
            </a:r>
            <a:r>
              <a:rPr lang="en-US" sz="2000" b="1" dirty="0" err="1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сервера</a:t>
            </a: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БД</a:t>
            </a:r>
            <a:r>
              <a:rPr lang="ru-RU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 приложений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2000" y="6350000"/>
            <a:ext cx="719328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RAM: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ОС (2 GB) + PostgreSQL shared_buffers (2 GB) + work_mem (0.08 GB) + JVM Heap (2 GB) + Nginx (0.2 GB) + Docker (0.5 GB) + запас 20% (1.4 GB) = </a:t>
            </a: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9.03 GB → 16 GB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CPU: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PostgreSQL (2 ядра) + фоновые процессы (1) + HTTP-запросы (3) + JVM (2) + Nginx (1) + ОС (1) + запас 20% (2) = </a:t>
            </a: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12 ядер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382000" y="63500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Диск: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ОС + Docker (30 GB) + БД 5 лет (1.2 GB) + WAL (1 GB) + логи (3 GB) + JAR (5 GB) + запас 30% (17 GB) = </a:t>
            </a: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57 GB → 240 GB SSD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DEPO Storm 2400 / Aquarius Server T40, 1U Rackmount, 2×550 Вт БП (горячая замена), 2×1GbE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C9EFA95-6648-F376-81C0-5157BF06A4E7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ПР9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Серверное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оборудование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A68DD9BE-4088-440E-B98A-78BB02174A8F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52715B31-F987-D9E5-E1BF-C25ACC4F1008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DB1D2098-FB65-08BE-2372-93F2B78AF84B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25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Автоматизированные рабочие места (АРМ) — 10 шт.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49617"/>
              </p:ext>
            </p:extLst>
          </p:nvPr>
        </p:nvGraphicFramePr>
        <p:xfrm>
          <a:off x="762000" y="1714500"/>
          <a:ext cx="14732000" cy="11557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Компонент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Спецификация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Количество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Пользователи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ОС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ПК (АРМ)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Intel Core i5-12400, 16GB DDR4, 256GB SSD NVMe, 23.8" FHD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10 шт.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Менеджеры, кладовщики, тренеры, руководитель, бухгалтер, админ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Astra Linux CE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330835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Мобильные планшеты (3 шт.)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2000" y="3752850"/>
            <a:ext cx="711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Getac T800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Процессор: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Snapdragon 660 (8 ядер, 2.2 ГГц)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RAM: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4 GB LPDDR4 |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Память: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64 GB eMMC + microSD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Экран: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8.1" WXGA, 600 нит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Защита: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IP68, MIL-STD-810G (–21°C)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Аккумулятор: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8400 мАч (сменный)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работа тренеров на трассе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382000" y="330835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Терминалы сбора данных (2 шт.)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382000" y="3752850"/>
            <a:ext cx="7112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Zebra TC21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Процессор: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Snapdragon 660 (8 ядер, 2.2 ГГц)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RAM: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4 GB LPDDR4 |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Память: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64 GB eMMC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Сканер: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SE4710 1D/2D imager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Защита: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IP67, падение с 1.5 м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Аккумулятор: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3300 мАч (сменный)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Назначение: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сканирование при приёмке/выдаче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62000" y="6413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Принтер этикеток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2000" y="68580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Модель: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Zebra ZD421 |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Тип печати: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термотрансферная / прямая термопечать |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Разрешение: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203 dpi (8 точек/мм)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Ширина печати: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104 мм |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Скорость: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152 мм/сек |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Интерфейсы: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USB 2.0, Ethernet, Bluetooth 4.1, Wi-Fi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Назначение: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печать штрих-кодов для маркировки единиц инвентаря (~100–200 этикеток/день)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FEFD649-2A8D-D21C-0008-B7046211B050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ПР9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Клиентское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оборудование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9A6F5F03-F838-2B73-1836-CDCA5EDF750E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CD29A4B9-582C-A64D-30A4-0C8F46282E5D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933DCFC8-24A6-78AA-3CD4-CE9BA2942143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26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826077"/>
              </p:ext>
            </p:extLst>
          </p:nvPr>
        </p:nvGraphicFramePr>
        <p:xfrm>
          <a:off x="762000" y="1270000"/>
          <a:ext cx="14732000" cy="3555999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0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 err="1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Компонент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Модель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Характеристики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Количество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7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Коммутатор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Cisco Catalyst 9300-24T / Eltex MES2324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24×1GbE RJ45, 4×10GbE SFP+, стек, 128 Гбит/с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 шт. (стек)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7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Межсетевой экран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UserGate C150 / Ideco UTM 150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 Гбит/с FW, 500 Мбит/с IPS, 300 Мбит/с VPN, 8GB RAM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 шт.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7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VPN-шлюз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Встроен в NGFW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До 10 подключений IPsec/SSL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7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ИБП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APC Smart-UPS SRT 2200VA / Eaton 5PX 2200i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2200 VA / 1950 Вт, ~15 мин автономности, SNMP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 шт. (2U)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20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Расчёт пропускной способности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2000" y="5651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Коммутатор: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Пиковый трафик: 50 пользователей × 5 Мбит/с + бэкапы 100 Мбит/с + межсерверный 100 Мбит/с =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450 Мбит/с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Uplink: 10 Гбит/с (с запасом)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382000" y="5651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NGFW: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Интернет: 50 × 2 Мбит/с = 100 Мбит/с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VPN: 5 × 5 Мбит/с = 25 Мбит/с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 запасом ×1.5: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187.5 Мбит/с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 IPS/IDS: требуется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250 Мбит/с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ИБП: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Нагрузка: 880 Вт → 1257 ВА × 1.5 =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1886 ВА → 2200 ВА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84FE67BF-D944-B6B0-6DFC-02A40A6B54AE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ПР9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Сетевое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оборудование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55ABAF22-0494-06F1-F567-B33CC915C698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8B230FFE-91C2-7F04-4CDD-E33DC99792CB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A4C183D8-BB2D-8B07-7B1C-D128C73F1A8E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27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Сравнительный анализ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725097"/>
              </p:ext>
            </p:extLst>
          </p:nvPr>
        </p:nvGraphicFramePr>
        <p:xfrm>
          <a:off x="762000" y="1714500"/>
          <a:ext cx="14732000" cy="3302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Критерий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Oracle VirtualBox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VMware Workstation Player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Microsoft Hyper-V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Тип гипервизора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2-й тип (на ОС)</a:t>
                      </a:r>
                      <a:endParaRPr lang="en-US" sz="1400" dirty="0">
                        <a:solidFill>
                          <a:srgbClr val="2DD4BF"/>
                        </a:solidFill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2-й тип (на ОС)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1-й тип (на железе)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Макс. vCPU/RAM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32 / 128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16 / 64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240 / 12 TB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Снапшоты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 (встроено)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Нет (Player)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Клонирование ВМ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Нет (Player)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Кроссплатформ.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Win, Linux, macOS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Win, Linux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Только Windows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Русский язык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Нет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Стоимость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Бесплатно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Бесплатно (Player)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Бесплатно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397500"/>
            <a:ext cx="14732000" cy="1143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46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Выбор: VirtualBox 7.0+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6000" y="5842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Кроссплатформенность (Windows/Linux/macOS), бесплатность (GPL v2), снапшоты, гибкие виртуальные сети (Internal Network), русский язык, поддержка Vagrant. Стенду требуется 6 vCPU / 12 GB RAM — VirtualBox поддерживает до 32 vCPU / 128 GB на ВМ.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A110630C-7C96-7D17-01D9-E591E66489EA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ПР10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Сравнение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выбор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среды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виртуализации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2278B5F8-25EF-4162-1030-D1E897BC3873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FD0D0DFC-F43E-FA48-9301-FF326E500397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7B13ED48-FFE4-96B8-88A0-E08F65D8A73E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28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Архитектура: 3 ВМ в сети 192.168.56.0/24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838661"/>
              </p:ext>
            </p:extLst>
          </p:nvPr>
        </p:nvGraphicFramePr>
        <p:xfrm>
          <a:off x="762000" y="1714500"/>
          <a:ext cx="14732000" cy="2540000"/>
        </p:xfrm>
        <a:graphic>
          <a:graphicData uri="http://schemas.openxmlformats.org/drawingml/2006/table">
            <a:tbl>
              <a:tblPr/>
              <a:tblGrid>
                <a:gridCol w="147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Назначение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Размещаемые компоненты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vCPU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RAM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Диск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IP-адрес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Сервер баз данных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PostgreSQL 17 (19 таблиц)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4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25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192.168.56.10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Сервер приложений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Spring Boot (модули 1-3), Python/statsmodels, Nginx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4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25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192.168.56.20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D4BF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ВМ3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Клиентская машина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Chromium (браузер), LibreOffice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4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20 GB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DHCP (.100+)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635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Сетевые порты и сервисы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668148"/>
              </p:ext>
            </p:extLst>
          </p:nvPr>
        </p:nvGraphicFramePr>
        <p:xfrm>
          <a:off x="762000" y="5080000"/>
          <a:ext cx="14732000" cy="20320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Компонент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Размещение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IP-адрес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Порт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0000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Назначение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PostgreSQL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ВМ1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192.168.56.10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5432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СУБД (все таблицы АСУ)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Spring Boot API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192.168.56.20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8080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Бизнес-логика (модули 1-3)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Nginx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ВМ2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192.168.56.20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80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Точка входа для пользователей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Клиент (браузер)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ВМ3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DHCP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F9FAFB"/>
                          </a:solidFill>
                          <a:latin typeface="Tinkoff Sans" panose="02000506050000020004" pitchFamily="2" charset="0"/>
                          <a:ea typeface="Liter" pitchFamily="34" charset="-122"/>
                          <a:cs typeface="Liter" pitchFamily="34" charset="-120"/>
                        </a:rPr>
                        <a:t>Доступ ко всем функциям АСУ</a:t>
                      </a:r>
                      <a:endParaRPr lang="en-US" sz="1400" dirty="0">
                        <a:latin typeface="Tinkoff Sans" panose="02000506050000020004" pitchFamily="2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749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Операционные системы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62000" y="79375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ВМ1 и ВМ2: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Ubuntu Server 22.04 LTS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| ВМ3: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Ubuntu Desktop 22.04 LTS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| Сеть: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Internal Network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(изолированная, 192.168.56.0/24)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C5FD7C6F-BE04-B4A5-E4E5-4FE4353E1D38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ПР10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Проектирование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виртуального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стенда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75CAACC5-6EFA-8AE1-9B8B-436EE5E277A3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21996B77-D5D6-B10B-9FF5-6F7C16E128F9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AF3877EC-614A-B7D4-5111-87459B4B5DA3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29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27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Последовательность развёртывания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3429000" cy="1270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1905000"/>
            <a:ext cx="3175000" cy="1143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Шаг 1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Создание ВМ и настройка сети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Static IP: ВМ1/ВМ2, DHCP: ВМ3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18000" y="2438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762500" y="1841500"/>
            <a:ext cx="3429000" cy="1270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9" name="Text 7"/>
          <p:cNvSpPr/>
          <p:nvPr/>
        </p:nvSpPr>
        <p:spPr>
          <a:xfrm>
            <a:off x="4889500" y="1905000"/>
            <a:ext cx="3175000" cy="1143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Шаг 2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ВМ1: PostgreSQL, создание БД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create_tables.sql + insert_data.sql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318500" y="2438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763000" y="1841500"/>
            <a:ext cx="3429000" cy="1270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1905000"/>
            <a:ext cx="3175000" cy="1143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Шаг 3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ВМ2: Java 21, Python, Nginx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Запуск модуля прогнозирования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319000" y="2438400"/>
            <a:ext cx="317500" cy="0"/>
          </a:xfrm>
          <a:prstGeom prst="straightConnector1">
            <a:avLst/>
          </a:prstGeom>
          <a:noFill/>
          <a:ln w="25400">
            <a:solidFill>
              <a:srgbClr val="2DD4B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2763500" y="1841500"/>
            <a:ext cx="2730500" cy="1270000"/>
          </a:xfrm>
          <a:prstGeom prst="roundRect">
            <a:avLst>
              <a:gd name="adj" fmla="val 5000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2890500" y="1905000"/>
            <a:ext cx="2476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000000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Шаг 4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ВМ3: Chromium, LibreOffice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Проверка доступности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2000" y="3492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Проверка связности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39370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После настройки static IP проведена проверка связи: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Ping ВМ1 → ВМ2: </a:t>
            </a: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OK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Ping ВМ2 → ВМ1: </a:t>
            </a: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OK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Ping ВМ3 → ВМ1/ВМ2: </a:t>
            </a: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OK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056384" y="3501953"/>
            <a:ext cx="434192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Установка ПО на ВМ2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056383" y="3946453"/>
            <a:ext cx="4437617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Установлены компоненты: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Nginx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статус active: </a:t>
            </a: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OK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Python + библиотеки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(pandas, numpy, </a:t>
            </a:r>
            <a:r>
              <a:rPr lang="en-US" sz="1400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statsmodels</a:t>
            </a:r>
            <a:r>
              <a:rPr lang="ru-RU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…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Запуск </a:t>
            </a: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main.py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модуль работает корректно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5969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Установка ПО на ВМ3 и итоговая проверка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2000" y="64135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 клиентскую ВМ3 установлены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Chromium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и </a:t>
            </a:r>
            <a:r>
              <a:rPr lang="en-US" sz="16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LibreOffice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. Подключение к серверу через веб-браузер подтвердило правильность настройки всех ВМ и локальной сети.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Итог:</a:t>
            </a:r>
            <a:r>
              <a:rPr lang="en-US" sz="16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виртуальный стенд полностью функционален — БД создана и заполнена, модуль прогнозирования работает, веб-сервер доступен с клиентской машины. Все компоненты АСУ развёрнуты и интегрированы.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81A35A34-AA04-4205-1FDD-4437754F10AF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ПР10 —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Реализация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виртуального</a:t>
            </a:r>
            <a:r>
              <a:rPr lang="en-US" sz="30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b="1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стенда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67DF2422-F58A-E70D-4A2A-0206B46C069D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" name="Text 16">
            <a:extLst>
              <a:ext uri="{FF2B5EF4-FFF2-40B4-BE49-F238E27FC236}">
                <a16:creationId xmlns:a16="http://schemas.microsoft.com/office/drawing/2014/main" id="{07DD8F83-F3AA-6D57-20FD-FA3BBA9D26E9}"/>
              </a:ext>
            </a:extLst>
          </p:cNvPr>
          <p:cNvSpPr/>
          <p:nvPr/>
        </p:nvSpPr>
        <p:spPr>
          <a:xfrm>
            <a:off x="4953298" y="3507266"/>
            <a:ext cx="587064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Установка ПО </a:t>
            </a:r>
            <a:r>
              <a:rPr lang="en-US" sz="2000" b="1" dirty="0" err="1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на</a:t>
            </a:r>
            <a:r>
              <a:rPr lang="en-US" sz="20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ВМ1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3" name="Text 17">
            <a:extLst>
              <a:ext uri="{FF2B5EF4-FFF2-40B4-BE49-F238E27FC236}">
                <a16:creationId xmlns:a16="http://schemas.microsoft.com/office/drawing/2014/main" id="{A63E919F-8325-051B-196C-7019441C551F}"/>
              </a:ext>
            </a:extLst>
          </p:cNvPr>
          <p:cNvSpPr/>
          <p:nvPr/>
        </p:nvSpPr>
        <p:spPr>
          <a:xfrm>
            <a:off x="4953298" y="3951766"/>
            <a:ext cx="587064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Установлены компоненты: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PostgreSQL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— статус active: </a:t>
            </a:r>
            <a:r>
              <a:rPr lang="en-US" sz="1400" b="1" dirty="0">
                <a:solidFill>
                  <a:srgbClr val="2DD4B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OK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ru-RU" sz="1400" b="1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Создание и заполнение БД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( </a:t>
            </a:r>
            <a:r>
              <a:rPr lang="ru-RU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скрипты </a:t>
            </a:r>
            <a:r>
              <a:rPr lang="en-US" sz="1400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create_table.sql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</a:t>
            </a:r>
            <a:r>
              <a:rPr lang="ru-RU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и </a:t>
            </a:r>
            <a:r>
              <a:rPr lang="en-US" sz="1400" dirty="0" err="1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insert_data.sql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)</a:t>
            </a:r>
            <a:endParaRPr lang="en-US" sz="1800" dirty="0">
              <a:latin typeface="Tinkoff Sans" panose="0200050605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10"/>
              </a:spcBef>
              <a:buSzPct val="100000"/>
              <a:buChar char="•"/>
            </a:pPr>
            <a:r>
              <a:rPr lang="ru-RU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Выполнение тестовых запросов</a:t>
            </a:r>
            <a:r>
              <a:rPr lang="en-US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— </a:t>
            </a:r>
            <a:r>
              <a:rPr lang="ru-RU" sz="1400" dirty="0">
                <a:solidFill>
                  <a:srgbClr val="F9FAFB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БД создана правильно.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E054E20A-C366-0E33-01FE-8646719DE1D2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DB42FB9-3192-D8F8-7C1F-9358F409E306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30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33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Сравнение подходов к разработке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615785"/>
              </p:ext>
            </p:extLst>
          </p:nvPr>
        </p:nvGraphicFramePr>
        <p:xfrm>
          <a:off x="762000" y="1841500"/>
          <a:ext cx="14732000" cy="2920998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CMS (WordPress)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Чистый HTML/CSS/JS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Время развёртывания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1–2 часа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30 минут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Требования к хостингу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PHP + MySQL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Любой веб-сервер или без него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Гибкость дизайна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Ограничена темой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Полный контроль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Зависимости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База данных, плагины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Отсутствуют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Размер проекта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50+ МБ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~10 КБ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953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Выбор: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Чистый HTML + CSS + JavaScript. Не требует сервера, полный контроль над дизайном, отсутствие зависимостей. Сине-белая цветовая гамма в тематике лыжного спорта.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78C277BE-A3FD-46B9-C275-83876E26D2ED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ПР11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Выбор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инструмента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и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структура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web-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портала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1EBA305E-CBAA-CFED-7E79-FD8B400AEF1F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095FB85F-0538-580C-4CFA-AC78C9D9C14A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E39604D-A398-8122-FF93-B575A21AD6CE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31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Главная страница (Hero)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526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Фиксированная навигационная панель с логотипом «⛷️ АСУ МТО». Hero-баннер с градиентным фоном (тёмно-синий → голубой), заголовок, описание системы, кнопка перехода.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2959398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 системе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3378497"/>
            <a:ext cx="7112000" cy="221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Карточки пользователей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(4 роли): Менеджер по закупкам, Кладовщик, Тренер, Руководитель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Основные функции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(6): ведение номенклатуры, управление закупками, складской учёт, контроль выдачи/возврата, прогнозирование, автоматическое списание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Преимущества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(3): экономия времени (×3), точность учёта, прогнозирование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5729784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Результаты работы АСУ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6148884"/>
            <a:ext cx="7112000" cy="142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Табы переключения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Складской учёт (8 записей), Активные выдачи (5 записей), Прогноз потребности (диаграмма на 4 мес.)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Слайдер отзывов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3 реалистичных отзыва (кладовщик, тренер, директор), авто-смена каждые 5 сек.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7780079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Контакты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" y="8199179"/>
            <a:ext cx="711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Контактная информация организации и форма </a:t>
            </a:r>
            <a:r>
              <a:rPr lang="en-US" sz="1600" dirty="0" err="1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обратной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связи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CB35B1CD-E0E7-94A5-62DE-CFFE6B512381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ПР11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Разделы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портала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EA79CE14-9670-E66C-6DC7-B38B1ADE2819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D3E57DE-7070-5023-2A51-017920E7E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392" y="440690"/>
            <a:ext cx="6737608" cy="4000500"/>
          </a:xfrm>
          <a:prstGeom prst="roundRect">
            <a:avLst>
              <a:gd name="adj" fmla="val 6036"/>
            </a:avLst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13DB517-D648-D5A9-E635-17C92DFA7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392" y="4601845"/>
            <a:ext cx="6737608" cy="4000500"/>
          </a:xfrm>
          <a:prstGeom prst="roundRect">
            <a:avLst>
              <a:gd name="adj" fmla="val 4973"/>
            </a:avLst>
          </a:prstGeom>
        </p:spPr>
      </p:pic>
      <p:sp>
        <p:nvSpPr>
          <p:cNvPr id="25" name="Text 9">
            <a:extLst>
              <a:ext uri="{FF2B5EF4-FFF2-40B4-BE49-F238E27FC236}">
                <a16:creationId xmlns:a16="http://schemas.microsoft.com/office/drawing/2014/main" id="{D3A43AC4-FB02-2633-155A-54A017E903E0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9EEDFD72-C277-55EA-BB27-6F48AFC9D78E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32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397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Портал реализован как </a:t>
            </a:r>
            <a:r>
              <a:rPr lang="en-US" sz="1800" b="1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одностраничное приложение (SPA)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с плавной навигацией между разделами. Использованы только стандартные веб-технологии без сторонних зависимостей. Цветовая гамма — сине-белая в тематике лыжного спорта.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619156" y="2673202"/>
            <a:ext cx="3182679" cy="1651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6" name="Text 4"/>
          <p:cNvSpPr/>
          <p:nvPr/>
        </p:nvSpPr>
        <p:spPr>
          <a:xfrm>
            <a:off x="11619156" y="2800202"/>
            <a:ext cx="3033823" cy="508000"/>
          </a:xfrm>
          <a:prstGeom prst="rect">
            <a:avLst/>
          </a:prstGeom>
          <a:solidFill>
            <a:srgbClr val="181B24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720756" y="3371702"/>
            <a:ext cx="2932223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Файла в проекте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(index.html, style.css, script.js)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619156" y="4584404"/>
            <a:ext cx="3182679" cy="1651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9" name="Text 7"/>
          <p:cNvSpPr/>
          <p:nvPr/>
        </p:nvSpPr>
        <p:spPr>
          <a:xfrm>
            <a:off x="11619156" y="4711404"/>
            <a:ext cx="3182679" cy="508000"/>
          </a:xfrm>
          <a:prstGeom prst="rect">
            <a:avLst/>
          </a:prstGeom>
          <a:solidFill>
            <a:srgbClr val="181B24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~10 КБ</a:t>
            </a:r>
            <a:endParaRPr lang="en-US" sz="16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720756" y="5282904"/>
            <a:ext cx="2932223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Общий размер проекта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(против 50+ МБ для CMS)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619156" y="6495606"/>
            <a:ext cx="3182679" cy="1651000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2" name="Text 10"/>
          <p:cNvSpPr/>
          <p:nvPr/>
        </p:nvSpPr>
        <p:spPr>
          <a:xfrm>
            <a:off x="11619156" y="6622606"/>
            <a:ext cx="3182679" cy="508000"/>
          </a:xfrm>
          <a:prstGeom prst="rect">
            <a:avLst/>
          </a:prstGeom>
          <a:solidFill>
            <a:srgbClr val="181B24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20756" y="7194106"/>
            <a:ext cx="2932223" cy="7620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Внешних зависимостей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(не требует сервера)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8D407A39-7B2C-75EA-9966-C0CC2EC4B804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ПР11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Результат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разработки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портала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6E6F1859-7F82-63D4-7124-2AA7EB260C75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B557A5E-718E-A4E2-4291-E7F4E3E0A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844" y="2484148"/>
            <a:ext cx="9855068" cy="5851512"/>
          </a:xfrm>
          <a:prstGeom prst="roundRect">
            <a:avLst>
              <a:gd name="adj" fmla="val 4674"/>
            </a:avLst>
          </a:prstGeom>
        </p:spPr>
      </p:pic>
      <p:sp>
        <p:nvSpPr>
          <p:cNvPr id="23" name="Text 9">
            <a:extLst>
              <a:ext uri="{FF2B5EF4-FFF2-40B4-BE49-F238E27FC236}">
                <a16:creationId xmlns:a16="http://schemas.microsoft.com/office/drawing/2014/main" id="{3D814788-5316-2A39-D963-29B29CCC06DD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E1828B0-A26D-A0C4-3102-BC18639207F0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33 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8382000" y="1307362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Архитектура </a:t>
            </a:r>
            <a:r>
              <a:rPr lang="en-US" sz="2200" b="1" dirty="0" err="1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модуля</a:t>
            </a: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Бэкенд: Python + FastAPI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FastAPI 0.108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высокопроизводительный асинхронный фреймворк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Переиспользование кода из ПР6 (database.py, config.py)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Работа с PostgreSQL 17 (схема asu_inventory, 19 таблиц)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Автоматическая документация Swagger UI (/docs)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Uvicorn сервер + CORS middleware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SQLAlchemy 2.0 ORM + psycopg2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7442" y="438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Фронтенд: HTML + CSS + JS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7442" y="4826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Независимость от Node.js, npm, сборщиков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Fetch API для асинхронных запросов к бэкенду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Работа в любом современном браузере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5 вкладок с динамической загрузкой данных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Toast-уведомления, skeleton-загрузка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Модальные окна для операций выдачи/возврата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178C320E-CC97-717E-5A93-77CFB3E27955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ПР12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Технологии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и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модуля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2D55583D-29C6-6166-0D2B-F75AE947B3CC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B46B2FA-E745-A8EC-4D2C-C654D55AD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26668" y="1865424"/>
            <a:ext cx="5520690" cy="642289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734C9379-3EB2-5754-9AEA-ACCF2CE47926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FDAEBB7A-CD3A-8E35-0FE4-E92BD3DD017C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34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Дашборд (GET /api/dashboard)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1758950"/>
            <a:ext cx="5766391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Дашборд выполняет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7 SQL-запросов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COUNT спортсменов, доступный инвентарь, активные выдачи, просроченные (planned_return_date &lt; CURRENT_DATE), должники, распределение по категориям, последние 5 выдач, топ-5 должников.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92679" y="1333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Спортсмены (GET /api/athletes)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370722"/>
              </p:ext>
            </p:extLst>
          </p:nvPr>
        </p:nvGraphicFramePr>
        <p:xfrm>
          <a:off x="6992679" y="1816100"/>
          <a:ext cx="8669078" cy="3683000"/>
        </p:xfrm>
        <a:graphic>
          <a:graphicData uri="http://schemas.openxmlformats.org/drawingml/2006/table">
            <a:tbl>
              <a:tblPr/>
              <a:tblGrid>
                <a:gridCol w="2300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9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9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Функция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Техническая реализация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Поиск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Поиск по ФИО с дебаунсом 300 мс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ILIKE запрос к БД через Fetch API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Фильтр по задолженности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Переключатель «Только должники»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Фильтр has_active_debt = TRUE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Таблица спортсменов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Список с ФИО, разрядом, группой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JOIN athlete + user + group + coach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Подсветка должников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Красная строка для должников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CSS-класс по флагу has_active_debt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Детальная карточка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Модальное окно с полной инфо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 /api/athletes/{id}, статистика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Skeleton-загрузка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Анимированные placeholder'ы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CSS @keyframes shimmer-эффект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Toast-уведомления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Успех / ошибка операции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Позиционирование fixed top-right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Text 0">
            <a:extLst>
              <a:ext uri="{FF2B5EF4-FFF2-40B4-BE49-F238E27FC236}">
                <a16:creationId xmlns:a16="http://schemas.microsoft.com/office/drawing/2014/main" id="{E174D073-252E-8B4C-D2EB-DB8D459A2068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ПР12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Дашборд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и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Спортсмены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69E9F591-3F8B-3FED-A68A-CC0381E67130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3054140-2B4D-63F2-11E3-B896FAEA9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80" y="3408327"/>
            <a:ext cx="4941776" cy="5089092"/>
          </a:xfrm>
          <a:prstGeom prst="roundRect">
            <a:avLst>
              <a:gd name="adj" fmla="val 5479"/>
            </a:avLst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89198CE-89E2-0D29-90B9-4F8B299144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720"/>
          <a:stretch>
            <a:fillRect/>
          </a:stretch>
        </p:blipFill>
        <p:spPr>
          <a:xfrm>
            <a:off x="6992679" y="5852347"/>
            <a:ext cx="8669078" cy="2645072"/>
          </a:xfrm>
          <a:prstGeom prst="roundRect">
            <a:avLst>
              <a:gd name="adj" fmla="val 7020"/>
            </a:avLst>
          </a:prstGeom>
        </p:spPr>
      </p:pic>
      <p:sp>
        <p:nvSpPr>
          <p:cNvPr id="36" name="Text 9">
            <a:extLst>
              <a:ext uri="{FF2B5EF4-FFF2-40B4-BE49-F238E27FC236}">
                <a16:creationId xmlns:a16="http://schemas.microsoft.com/office/drawing/2014/main" id="{62189A10-2A14-07B5-3C7F-E97FB038934C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B2987164-26A5-1656-08DC-ADE85313E08D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35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33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Выдачи (CRUD-операции)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382586"/>
              </p:ext>
            </p:extLst>
          </p:nvPr>
        </p:nvGraphicFramePr>
        <p:xfrm>
          <a:off x="762001" y="1778000"/>
          <a:ext cx="8275674" cy="2705100"/>
        </p:xfrm>
        <a:graphic>
          <a:graphicData uri="http://schemas.openxmlformats.org/drawingml/2006/table">
            <a:tbl>
              <a:tblPr/>
              <a:tblGrid>
                <a:gridCol w="1489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4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7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Операция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API эндпоинт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SQL-действия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Бизнес-логика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Список выдач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 /api/issuance/active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SELECT с JOIN 4 таблиц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Фильтр по статусу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Выдача инвентаря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POST /api/issuance/issue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INSERT + UPDATE статуса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Проверка долга и доступности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Возврат инвентаря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POST /api/issuance/return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UPDATE статуса документа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Проверка, не возвращён ли уже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Проверка связности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FOREIGN KEY constraints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Целостность данных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Уведомления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HTTPException (400/404)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Toast success / error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699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 err="1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Склад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Склад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(GET /api/inventory/available):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Таблица доступного инвентаря со штрих-кодами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JOIN inventory_item + nomenclature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Фильтр по статусу AVAILABLE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Цветовая индикация статусов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382000" y="51435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Статистика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(GET /api/inventory/statistics):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Карточки по категориям (Лыжи, Ботинки...)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GROUP BY nomenclature_category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Цветные полосы: доступен / выдан / проблемы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CSS-визуализация пропорций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" name="Shape 6"/>
          <p:cNvSpPr/>
          <p:nvPr/>
        </p:nvSpPr>
        <p:spPr>
          <a:xfrm>
            <a:off x="762000" y="7239000"/>
            <a:ext cx="14732000" cy="990600"/>
          </a:xfrm>
          <a:prstGeom prst="roundRect">
            <a:avLst>
              <a:gd name="adj" fmla="val 3000"/>
            </a:avLst>
          </a:prstGeom>
          <a:solidFill>
            <a:srgbClr val="181B24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7340600"/>
            <a:ext cx="1422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D4BF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Результат:</a:t>
            </a:r>
            <a:r>
              <a:rPr lang="en-US" sz="1600" dirty="0">
                <a:solidFill>
                  <a:srgbClr val="2DD4BF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Полностью функциональный веб-модуль с 5 вкладками, реализующий все CRUD-операции через REST API. Бэкенд на FastAPI обеспечивает асинхронную обработку запросов к PostgreSQL. Фронтенд на чистом JS динамически загружает данные без перезагрузки страницы.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87D95F0C-FDA1-112B-117E-CBD6194F253F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ПР12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Выдачи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Склад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и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Статистика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9982E006-9271-2296-F830-3AF2DFE55AC1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8F7E502-2E17-0AAD-3C87-A710111E0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550" y="956310"/>
            <a:ext cx="5939790" cy="3526790"/>
          </a:xfrm>
          <a:prstGeom prst="roundRect">
            <a:avLst>
              <a:gd name="adj" fmla="val 3100"/>
            </a:avLst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71489D27-300D-70ED-C24D-0E56E8A12991}"/>
              </a:ext>
            </a:extLst>
          </p:cNvPr>
          <p:cNvSpPr/>
          <p:nvPr/>
        </p:nvSpPr>
        <p:spPr>
          <a:xfrm>
            <a:off x="8382000" y="4737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 err="1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Статистика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97F26273-1D2F-9AA2-6131-1FA917B624BD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BB588446-080E-828A-8580-D6C81044C1D1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36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B7D5881-561A-5ACC-F50D-19D5114AD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4209" y="1618630"/>
            <a:ext cx="5939790" cy="6777990"/>
          </a:xfrm>
          <a:prstGeom prst="roundRect">
            <a:avLst>
              <a:gd name="adj" fmla="val 3242"/>
            </a:avLst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F4DD15AC-8A89-5DDC-048C-4A01B0033D1B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ПР13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Схема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компьютерной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сети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АСУ МТО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6D0CD04D-7F67-8CAB-204D-889F69E8132F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B1365BA3-02B0-0F10-A51E-B1B79FAC040B}"/>
              </a:ext>
            </a:extLst>
          </p:cNvPr>
          <p:cNvSpPr/>
          <p:nvPr/>
        </p:nvSpPr>
        <p:spPr>
          <a:xfrm>
            <a:off x="762000" y="133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Серверное оборудование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0914034B-4371-A580-A302-0BB7EE6A7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348065"/>
              </p:ext>
            </p:extLst>
          </p:nvPr>
        </p:nvGraphicFramePr>
        <p:xfrm>
          <a:off x="762000" y="1778000"/>
          <a:ext cx="8243778" cy="1905000"/>
        </p:xfrm>
        <a:graphic>
          <a:graphicData uri="http://schemas.openxmlformats.org/drawingml/2006/table">
            <a:tbl>
              <a:tblPr/>
              <a:tblGrid>
                <a:gridCol w="241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7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Оборудование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Спецификация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Размещаемые компоненты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Основной сервер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DEPO Storm 2400, Xeon Silver 4310, 16 ГБ RAM, 2×240 ГБ SSD RAID 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Docker Compose (PostgreSQL, Spring Boot, Nginx)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аналитики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DEPO Storm 2400, Xeon Silver 4310, 16 ГБ RAM, 2×240 ГБ SSD RAID 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Python/statsmodels, ClickHouse, BI (Redash)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резервного копирования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DEPO Storm 1300, Xeon E-2336, 8 ГБ RAM, 2×2 ТБ HDD RAID 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 / Veeam Backup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3">
            <a:extLst>
              <a:ext uri="{FF2B5EF4-FFF2-40B4-BE49-F238E27FC236}">
                <a16:creationId xmlns:a16="http://schemas.microsoft.com/office/drawing/2014/main" id="{F949E26A-92F6-D7D5-CBC6-E238995A88C1}"/>
              </a:ext>
            </a:extLst>
          </p:cNvPr>
          <p:cNvSpPr/>
          <p:nvPr/>
        </p:nvSpPr>
        <p:spPr>
          <a:xfrm>
            <a:off x="762000" y="3911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Клиентское и периферийное оборудование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17" name="Table 1">
            <a:extLst>
              <a:ext uri="{FF2B5EF4-FFF2-40B4-BE49-F238E27FC236}">
                <a16:creationId xmlns:a16="http://schemas.microsoft.com/office/drawing/2014/main" id="{928DFC28-FC20-207C-CCC4-07B802798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447665"/>
              </p:ext>
            </p:extLst>
          </p:nvPr>
        </p:nvGraphicFramePr>
        <p:xfrm>
          <a:off x="762000" y="4356100"/>
          <a:ext cx="8243779" cy="2705100"/>
        </p:xfrm>
        <a:graphic>
          <a:graphicData uri="http://schemas.openxmlformats.org/drawingml/2006/table">
            <a:tbl>
              <a:tblPr/>
              <a:tblGrid>
                <a:gridCol w="2060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7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Оборудование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Спецификация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Кол-во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АРМ пользователей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DEPO Neos 300, Core i5-12400, 16 ГБ RAM, 256 ГБ SSD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Рабочие места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Мобильные устройства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Getac T800, Android 11, 4 ГБ RAM, 64 ГБ eMMC, IP68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Тренеры на трассе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Терминалы сбора данных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Zebra TC21, Android 10, 4 ГБ RAM, 64 ГБ eMMC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Кладовщики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Принтер этикеток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Zebra ZD421, термотрансферный, Ethernet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Маркировка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Видеонаблюдение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NVR-регистратор + 4 IP-камеры (PoE)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Безопасность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 компл.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4">
            <a:extLst>
              <a:ext uri="{FF2B5EF4-FFF2-40B4-BE49-F238E27FC236}">
                <a16:creationId xmlns:a16="http://schemas.microsoft.com/office/drawing/2014/main" id="{126083AE-06EC-2F7F-C1A6-BE662FAAA3FA}"/>
              </a:ext>
            </a:extLst>
          </p:cNvPr>
          <p:cNvSpPr/>
          <p:nvPr/>
        </p:nvSpPr>
        <p:spPr>
          <a:xfrm>
            <a:off x="762000" y="7239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Сетевое оборудование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27E7EBB-4392-BAC6-1452-82AFC006CF43}"/>
              </a:ext>
            </a:extLst>
          </p:cNvPr>
          <p:cNvSpPr/>
          <p:nvPr/>
        </p:nvSpPr>
        <p:spPr>
          <a:xfrm>
            <a:off x="762000" y="7683500"/>
            <a:ext cx="8243779" cy="71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2× Коммутатор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Cisco Catalyst 9300-24T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(стек, 24×1GbE + 4×10GbE SFP+)</a:t>
            </a:r>
            <a:endParaRPr lang="ru-RU" sz="1600" dirty="0">
              <a:solidFill>
                <a:srgbClr val="E8E8E8"/>
              </a:solidFill>
              <a:latin typeface="Tinkoff Sans" panose="02000506050000020004" pitchFamily="2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Межсетевой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экран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UserGate C150 / Ideco UTM 150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(NGFW + VPN)</a:t>
            </a:r>
            <a:endParaRPr lang="ru-RU" sz="1600" dirty="0">
              <a:solidFill>
                <a:srgbClr val="E8E8E8"/>
              </a:solidFill>
              <a:latin typeface="Tinkoff Sans" panose="02000506050000020004" pitchFamily="2" charset="0"/>
              <a:ea typeface="Quattrocento Sans" pitchFamily="34" charset="-122"/>
              <a:cs typeface="Quattrocento Sans" pitchFamily="34" charset="-12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79F03316-205D-E2D6-8F4B-4E16E1FF0291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709FAB42-17F9-1D08-AE56-E945A03040A3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37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7304"/>
              </p:ext>
            </p:extLst>
          </p:nvPr>
        </p:nvGraphicFramePr>
        <p:xfrm>
          <a:off x="762000" y="1397000"/>
          <a:ext cx="14732000" cy="2326227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Сегмент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Адресация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Оборудование / Участники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192.168.56.0/24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Внутренняя сеть организации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Коммутаторы L3, серверы, АРМ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r>
                        <a:rPr lang="ru-RU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92</a:t>
                      </a:r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.1</a:t>
                      </a:r>
                      <a:r>
                        <a:rPr lang="ru-RU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68</a:t>
                      </a:r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.</a:t>
                      </a:r>
                      <a:r>
                        <a:rPr lang="ru-RU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56</a:t>
                      </a:r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.0/24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Удалённые подключения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Тренеры, администратор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VLAN 10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192.168.56.0/24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Серверная сеть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 сервера, репликация, бэкапы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13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VLAN 20–40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192.168.56.0/24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АРМ / Wi-Fi / Видео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10 АРМ, ТСД, камеры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428244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Распределение VLAN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2000" y="4765040"/>
            <a:ext cx="3429000" cy="1207386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853940"/>
            <a:ext cx="3429000" cy="355600"/>
          </a:xfrm>
          <a:prstGeom prst="rect">
            <a:avLst/>
          </a:prstGeom>
          <a:solidFill>
            <a:srgbClr val="181B24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10</a:t>
            </a:r>
            <a:endParaRPr lang="en-US" sz="16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3600" y="5234940"/>
            <a:ext cx="3225800" cy="8255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Серверы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Основной, аналитики, бэкап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45000" y="4765040"/>
            <a:ext cx="3429000" cy="1207386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0" name="Text 7"/>
          <p:cNvSpPr/>
          <p:nvPr/>
        </p:nvSpPr>
        <p:spPr>
          <a:xfrm>
            <a:off x="4445000" y="4853940"/>
            <a:ext cx="3429000" cy="355600"/>
          </a:xfrm>
          <a:prstGeom prst="rect">
            <a:avLst/>
          </a:prstGeom>
          <a:solidFill>
            <a:srgbClr val="181B24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20</a:t>
            </a:r>
            <a:endParaRPr lang="en-US" sz="16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4" name="Text 8"/>
          <p:cNvSpPr/>
          <p:nvPr/>
        </p:nvSpPr>
        <p:spPr>
          <a:xfrm>
            <a:off x="4546600" y="5234940"/>
            <a:ext cx="3225800" cy="8255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АРМ пользователей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10 рабочих мест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128000" y="4765040"/>
            <a:ext cx="3429000" cy="1207386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3" name="Text 10"/>
          <p:cNvSpPr/>
          <p:nvPr/>
        </p:nvSpPr>
        <p:spPr>
          <a:xfrm>
            <a:off x="8128000" y="4853940"/>
            <a:ext cx="3429000" cy="355600"/>
          </a:xfrm>
          <a:prstGeom prst="rect">
            <a:avLst/>
          </a:prstGeom>
          <a:solidFill>
            <a:srgbClr val="181B24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30</a:t>
            </a:r>
            <a:endParaRPr lang="en-US" sz="16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29600" y="5234940"/>
            <a:ext cx="3225800" cy="8255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Гостевая / Wi-Fi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ТСД, мобильные устройства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1811000" y="4765040"/>
            <a:ext cx="3683000" cy="1207386"/>
          </a:xfrm>
          <a:prstGeom prst="roundRect">
            <a:avLst>
              <a:gd name="adj" fmla="val 5000"/>
            </a:avLst>
          </a:prstGeom>
          <a:solidFill>
            <a:srgbClr val="181B24"/>
          </a:solidFill>
          <a:ln/>
        </p:spPr>
      </p:sp>
      <p:sp>
        <p:nvSpPr>
          <p:cNvPr id="16" name="Text 13"/>
          <p:cNvSpPr/>
          <p:nvPr/>
        </p:nvSpPr>
        <p:spPr>
          <a:xfrm>
            <a:off x="11811000" y="4853940"/>
            <a:ext cx="3683000" cy="355600"/>
          </a:xfrm>
          <a:prstGeom prst="rect">
            <a:avLst/>
          </a:prstGeom>
          <a:solidFill>
            <a:srgbClr val="181B24"/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D4BF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40</a:t>
            </a:r>
            <a:endParaRPr lang="en-US" sz="16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912600" y="5234940"/>
            <a:ext cx="3479800" cy="825500"/>
          </a:xfrm>
          <a:prstGeom prst="rect">
            <a:avLst/>
          </a:prstGeom>
          <a:solidFill>
            <a:srgbClr val="181B24"/>
          </a:solidFill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Видеонаблюдение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4 IP-камеры + NVR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62000" y="6465772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Ключевые особенности схемы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2000" y="6910272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Управляемые коммутаторы L3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(Cisco Catalyst 9300) обеспечивают маршрутизацию между VLAN на уровне ядра сети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NGFW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защищает периметр: фильтрация трафика, VPN-шлюз, контент-фильтрация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Резервирование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RAID 1 на всех серверах, ИБП для бесперебойного питания, стек коммутаторов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Мобильный доступ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тренеры подключаются через VPN по 4G LTE с защищённых планшетов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DE20B071-BC24-7806-69D5-F9F7F0CD84C3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ПР13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Логическая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структура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сети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D9615D2E-9BCE-839D-A4CF-E1879E64C902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D3AFD7D0-2E18-ADAB-66E8-9D63128E02D2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18A6B993-2C99-7739-F355-A03D671B0A39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38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333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На АРМ хранятся и обрабатываются: учётные данные,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персональные данные спортсменов (152-ФЗ)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, коммерческая тайна, отчёты по закупкам, данные бюджетного контроля.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236240"/>
              </p:ext>
            </p:extLst>
          </p:nvPr>
        </p:nvGraphicFramePr>
        <p:xfrm>
          <a:off x="762000" y="2159000"/>
          <a:ext cx="14732000" cy="6222999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31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Угроза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Источник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Последствия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Несанкционированный доступ к АРМ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Доступ постороннего лица к АРМ без блокировки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Внутренний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Утечка ПДн, компрометация учётки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Заражение вредоносным ПО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Вирусы, трояны, кейлоггеры, шифровальщики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Внешний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Кража данных, потеря отчётов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Теневые IT-сервисы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Неучтённое ПО (мессенджеры, облака) сотрудниками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Внутренний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Утечка данных за периметр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Утрата мобильного устройства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Потеря планшета Getac T800 или ТСД Zebra TC21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Внешний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Доступ к данным АСУ, ПДн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Несанкционированное копирование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Выгрузка данных на USB-накопитель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Внутренний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Утечка коммерческой тайны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Недостаточная очистка кэша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Хранение cookie и кэша после сеанса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Внутренний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Повторный вход под чужой учёткой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991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Физическое повреждение АРМ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Выход из строя SSD или БП без резервного копирования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Технический сбой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Потеря документов и отчётов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F6DB54CB-65BC-167B-1C2B-3D543471EEB3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ПР13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Угрозы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безопасности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на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рабочих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станциях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8F345B9-61E3-A6C4-A484-A8DEE722F701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3FFBB5C-DCC8-B057-38B1-C5934E7A2FFF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0B0A998B-009A-26CB-9A85-D92554434DBA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39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 сети передаются: учётные данные, ПДн спортсменов, коммерческая информация, данные складского учёта, результаты прогнозирования, трафик резервного копирования.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483541"/>
              </p:ext>
            </p:extLst>
          </p:nvPr>
        </p:nvGraphicFramePr>
        <p:xfrm>
          <a:off x="762000" y="2095500"/>
          <a:ext cx="14732000" cy="6349999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77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Угроза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Участок сети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Последствия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трафика (Sniffing)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Пассивный перехват незашифрованного HTTP-трафика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LAN, Wi-Fi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Компрометация паролей, ПДн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MITM-атака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Активный перехват и </a:t>
                      </a:r>
                      <a:r>
                        <a:rPr lang="en-US" sz="1500" u="none" dirty="0" err="1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модификация</a:t>
                      </a:r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 </a:t>
                      </a:r>
                      <a:r>
                        <a:rPr lang="en-US" sz="1500" u="none" dirty="0" err="1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трафика</a:t>
                      </a:r>
                      <a:r>
                        <a:rPr lang="ru-RU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 между клиентом и сервером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LAN, Wi-Fi, 4G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Подмена данных, кража учёток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НСД к Wi-Fi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Подключение постороннего устройства к корп. Wi-Fi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Wi-Fi (VLAN 30)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Доступ к внутренним ресурсам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Атака на VPN-туннель при подключении тренеров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Интернет, 4G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учётных данных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DDoS-атака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Массированная отправка запросов к Nginx/Spring Boot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Интернет → DMZ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Недоступность АСУ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бэкапов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НСД к каналу передачи бэкапов между серверами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 (серверная)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Утечка полной копии БД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DNS Spoofing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Подмена DNS-записей для перенаправления на фишинг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Интернет, DNS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Фишинг учётных данных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7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Эксплуатация CVE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Использование уязвимостей прошивок Cisco/UserGate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LAN, периметр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над инфраструктурой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F5A89616-115E-CAAE-9A01-322A5F1014CA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ПР13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Угрозы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безопасности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передачи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информации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53D36AC3-86BB-556B-C5DB-2803D1BEAAD0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D499780-9215-106E-A87D-52AF16FC919D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C8671BF8-2679-E144-7918-7E2B2BB05A6F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40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333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5 категорий защищаемой информации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666469"/>
              </p:ext>
            </p:extLst>
          </p:nvPr>
        </p:nvGraphicFramePr>
        <p:xfrm>
          <a:off x="762000" y="1778000"/>
          <a:ext cx="14732000" cy="2679701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2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Категория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Содержание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Уровень защиты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32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Персональные данные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ФИО, год рождения, контакты, спортивный разряд спортсменов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152-ФЗ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32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Коммерческая тайна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ИНН, КПП, банковские реквизиты, договорные цены поставщиков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Высокий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32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Финансовая информация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Лимиты финансирования, фактические расходы, планы закупок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Высокий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2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Учётные данные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Логины, пароли, сессионные ключи пользователей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Критичный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8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Отчёты и аналитика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ОСВ, прогнозы, оборотно-сальдовые ведомости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Средний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68926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Платформа рабочих станций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87387"/>
              </p:ext>
            </p:extLst>
          </p:nvPr>
        </p:nvGraphicFramePr>
        <p:xfrm>
          <a:off x="762000" y="5133760"/>
          <a:ext cx="14732000" cy="1778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Параметр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АРМ (стационарные)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Мобильные устройства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ТСД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Astra Linux Common Edition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Android 11 (Getac T800)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Android 10 (Zebra TC21)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Ключевое ПО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Chromium, LibreOffice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Chromium (PWA)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Сканер штрих-кодов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Хранимые данные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Кэш браузера, отчёты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Кэш PWA, офлайн-данные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Штрих-коды, статусы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7161618"/>
            <a:ext cx="14732000" cy="129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Пользователи АРМ: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Менеджеры по закупкам, кладовщики, тренеры, руководитель, бухгалтер, администратор — всего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10 стационарных АРМ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Мобильные пользователи: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Тренеры (3 планшета Getac T800) работают на удалённых трассах через VPN по 4G LTE.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Требование импортозамещения: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Все ОС и ПО из реестра отечественного ПО или сертифицированы ФСТЭК.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A5D885A-D441-5439-878E-5BD3014F3DA9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ПР14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Анализ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защищаемой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информации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и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платформы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7BC1BFFE-94DF-7E3B-C28C-4E360198C7B4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9211676-D6AD-16F7-9146-D2C1BE18EA7E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E632FD9-0448-0F8A-820F-47CF8DC047BC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41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33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Антивирусная защита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709511"/>
              </p:ext>
            </p:extLst>
          </p:nvPr>
        </p:nvGraphicFramePr>
        <p:xfrm>
          <a:off x="762000" y="1752600"/>
          <a:ext cx="14732000" cy="1536699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Kaspersky ES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Dr.Web Enterprise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ClamAV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Сертификация ФСТЭК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 (НДВ-4, СКЗИ)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 (НДВ-4)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64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Типы анализа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Сигнатурный + эвристический + поведенческий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Сигнатурный + эвристический + поведенческий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Только сигнатурный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Защита от шифровальщиков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 (Anti-Ransomware)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 (Process Heuristic)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3499591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СЗИ от НСД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969804"/>
              </p:ext>
            </p:extLst>
          </p:nvPr>
        </p:nvGraphicFramePr>
        <p:xfrm>
          <a:off x="762000" y="3918691"/>
          <a:ext cx="14732000" cy="1536699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Secret Net Studio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Dallas Lock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Astra Linux SE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64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Уровень контроля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Высокий (мандатный)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Средний (дискреционный)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Высокий (мандатный + дискреционный)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Замкнутая ПС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USB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5761378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MDM-решения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073433"/>
              </p:ext>
            </p:extLst>
          </p:nvPr>
        </p:nvGraphicFramePr>
        <p:xfrm>
          <a:off x="762000" y="6180478"/>
          <a:ext cx="7112000" cy="1397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SafeMobile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Workspace ONE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Intune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Сертификация ФСТЭК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Импортозамещение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Удалённое стирание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382000" y="5761378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DLP-решения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974194"/>
              </p:ext>
            </p:extLst>
          </p:nvPr>
        </p:nvGraphicFramePr>
        <p:xfrm>
          <a:off x="8382000" y="6180478"/>
          <a:ext cx="7112000" cy="1397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Solar Dozor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InfoWatch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DeviceLock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USB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печати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Совместимость с Astra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1FECE253-4084-F28B-2C50-F87C0B86E278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ПР14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Обзор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программных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средств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защиты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1C2E1C7-D26F-8F5A-E38E-E94AF79F2785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CE488C5-DBB4-AFCA-8EC1-14B70B265476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3667C22-509C-B283-C5A7-49DB45C25DB4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42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708740"/>
              </p:ext>
            </p:extLst>
          </p:nvPr>
        </p:nvGraphicFramePr>
        <p:xfrm>
          <a:off x="762000" y="1371600"/>
          <a:ext cx="14732000" cy="3556000"/>
        </p:xfrm>
        <a:graphic>
          <a:graphicData uri="http://schemas.openxmlformats.org/drawingml/2006/table">
            <a:tbl>
              <a:tblPr/>
              <a:tblGrid>
                <a:gridCol w="418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9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52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Категория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Выбранное средство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Обоснование выбора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Антивирус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Kaspersky Endpoint Security для Linux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Сертифицирован ФСТЭК (НДВ-4), совместим с Astra Linux, централизованное управление, защита от шифровальщиков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СЗИ НСД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Astra Linux SE + Secret Net Studio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Встроенный СЗИ (мандатный + дискреционный). Secret Net Studio для АРМ руководителя и бухгалтера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MDM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SafeMobile (Код Безопасности)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Сертифицирован ФСТЭК, реестр отечественного ПО, удалённая блокировка/стирание, шифрование, геолокация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DLP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DeviceLock DLP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Сертифицирован ФСТЭК, контроль USB-портов, печати и сетевых каналов, минимальное потребление ресурсов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Аутентификация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Keycloak (Open Source)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SSO, MFA (двухфакторная аутентификация), ролевая модель, аудит событий входа — уже в составе АСУ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Резервное копирование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Автоматическое резервное копирование пользовательских данных АРМ по расписанию на сервер бэкапа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143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Соответствие средств защиты угрозам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85594"/>
              </p:ext>
            </p:extLst>
          </p:nvPr>
        </p:nvGraphicFramePr>
        <p:xfrm>
          <a:off x="762000" y="5588000"/>
          <a:ext cx="14732000" cy="3086102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0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Угроза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Средство защиты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Механизм нейтрализации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НСД к АРМ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Astra Linux SE + Keycloak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Блокировка экрана (5 мин), MFA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62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Вредоносное ПО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Kaspersky Endpoint Security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Сигнатурный + эвристический + поведенческий анализ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Теневые IT-сервисы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DeviceLock DLP + NGFW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Блокировка облаков и мессенджеров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Утрата мобильного устройства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SafeMobile (MDM)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 FBE, удалённое стирание, геолокация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Несанкционированное копирование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DeviceLock DLP + Secret Net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Блокировка USB, аудит выгрузки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Недостаточная очистка кэша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Chromium + Keycloak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Автоочистка кэша, HttpOnly/Secure cookie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62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Физическое повреждение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Автоматическое резервное копирование по расписанию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98445B9C-0203-F7D8-1AEC-0CA38FBC6F78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ПР14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Выбранный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комплекс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средств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защиты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EA7EFB8D-098D-573E-F0F9-D52C5D9A2F54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A39A7686-AB16-6262-929D-014865F83011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58A3470E-4C1C-1EF6-FBFF-E02236E111D2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43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34945"/>
              </p:ext>
            </p:extLst>
          </p:nvPr>
        </p:nvGraphicFramePr>
        <p:xfrm>
          <a:off x="762000" y="1397000"/>
          <a:ext cx="14732000" cy="3937001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9927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Канал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Тип трафика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Технология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Участники обмена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WAN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Веб-интерфейс АСУ, 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HTTPS (TCP/443), IPsec/SSL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NGFW ↔ Интернет, тренеры (VPN)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HTTP-запросы к API, SQL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HTTP/HTTPS (TCP), SQL (TCP/5432)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АРМ ↔ Серверы, Сервер ↔ Сервер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VLAN 10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Бэкапы БД, репликация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Bacula/Veeam (TCP), NFS/SSH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Серверы ↔ Сервер бэкапа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VLAN 30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PWA-приложение, синхронизация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HTTPS (TCP/443), Wi-Fi 5 (802.11ac)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ТСД ↔ Точка доступа ↔ Коммутатор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Веб-интерфейс, выгрузка отчётов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IPsec IKEv2 / SSL 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Тренеры (Getac T800) ↔ NGFW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VLAN 40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Видеопоток, запись на NVR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RTSP (TCP/UDP)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IP-камеры ↔ NVR-регистратор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588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Ключевые особенности каналов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2000" y="6032500"/>
            <a:ext cx="14732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WAN (внешний периметр)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единственная точка входа извне, защищается NGFW с фильтрацией L3–L7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LAN (внутренняя сеть)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изолирована от WAN, межсерверное взаимодействие через управляемые коммутаторы L3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10 (серверная)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критически важный сегмент с наиболее строгими правилами доступа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30 (Wi-Fi)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гостевой сегмент для мобильных устройств с ограниченными правами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VPN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шифрованные туннели для удалённых тренеров, работающих на лыжных трассах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40 (видеонаблюдение)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изолированный сегмент, не пересекается с производственным трафиком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E321C345-82D9-7D64-3248-BC1D4F792CB9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ПР15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Защищаемые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каналы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передачи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данных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0C38D6AD-3EB9-CD2F-40DB-D5A49AAE43AD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828C9A0-F071-3B02-4648-F20580F1F2F6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F27178B-9DE8-24E2-F8A7-3E1F2CA103DC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44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2000" y="133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NGFW-решения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483932"/>
              </p:ext>
            </p:extLst>
          </p:nvPr>
        </p:nvGraphicFramePr>
        <p:xfrm>
          <a:off x="762000" y="1752600"/>
          <a:ext cx="14732000" cy="1397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UserGate C150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Ideco UTM 150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ViPNet Coordinator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Пропускная способность FW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 Гбит/с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 Гбит/с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500 Мбит/с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Пропускная способность IPS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500 Мбит/с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500 Мбит/с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300 Мбит/с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VPN-производительность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300 Мбит/с (IPsec)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200 Мбит/с (IPsec)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200 Мбит/с (IPsec)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3382632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IDS/IPS-решения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972765"/>
              </p:ext>
            </p:extLst>
          </p:nvPr>
        </p:nvGraphicFramePr>
        <p:xfrm>
          <a:off x="762000" y="3801732"/>
          <a:ext cx="14732000" cy="1397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Suricata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Snort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Континент-АП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Производительность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 10 Гбит/с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 1 Гбит/с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 1 Гбит/с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Сертификация ФСТЭК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 (Open Source)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 (Open Source)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Стоимость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Бесплатно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Бесплатно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Платная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5474296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VPN-решения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19620"/>
              </p:ext>
            </p:extLst>
          </p:nvPr>
        </p:nvGraphicFramePr>
        <p:xfrm>
          <a:off x="762000" y="5893396"/>
          <a:ext cx="7112000" cy="13970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StrongSwan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OpenVPN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ViPNet Client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Протокол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IPsec IKEv2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SSL/TLS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IPsec IKEv2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AES-256-GCM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AES-256-GCM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ГОСТ 28147-89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Импортозамещение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382000" y="5474296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Защита Wi-Fi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6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914953"/>
              </p:ext>
            </p:extLst>
          </p:nvPr>
        </p:nvGraphicFramePr>
        <p:xfrm>
          <a:off x="8382000" y="5893396"/>
          <a:ext cx="7112000" cy="16637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906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WPA3-Ent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WPA2-Ent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WPA2-PSK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0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AES-256-GCMP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AES-CCMP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AES-CCMP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4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Защита от перебора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Полная (Dragonfly)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Частичная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Отсутствует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4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Рекомендация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Настоятельно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Базовый уровень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Устарел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63956B4B-2C37-3B0E-6D52-4C3D3B3ED412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ПР15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Обзор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средств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защиты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сети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03896AC-D151-C523-A043-DD2521745B0C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665E504-1123-CB55-12EF-7AAAC5D42DA9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B517A15-725F-BF2A-0783-7A8534B0E8E2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45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791963"/>
              </p:ext>
            </p:extLst>
          </p:nvPr>
        </p:nvGraphicFramePr>
        <p:xfrm>
          <a:off x="762000" y="1371601"/>
          <a:ext cx="14732000" cy="3200398"/>
        </p:xfrm>
        <a:graphic>
          <a:graphicData uri="http://schemas.openxmlformats.org/drawingml/2006/table">
            <a:tbl>
              <a:tblPr/>
              <a:tblGrid>
                <a:gridCol w="333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4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Категория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Выбранное средство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Обоснование выбора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NGFW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UserGate C150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ФСТЭК, L3–L7, IPS/IDS, VPN, контент-фильтрация, DDoS. 1 Гбит/с покрывает 50 пользователей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IDS/IPS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Встроенный IPS + Suricata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Базовая сигнатурная защита + ML-анализ аномалий трафика (доп. сенсор)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UserGate VPN + StrongSwan + ViPNet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IPsec IKEv2 + AES-256-GCM для тренеров. ViPNet (ГОСТ) для мобильных. StrongSwan для серверов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Wi-Fi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WPA3-Enterprise + FreeRADIUS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AES-256-GCMP, защита Dragonfly, PMF. 802.1X через RADIUS интегрирован с Keycloak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TLS 1.3 (HTTPS) + DNSSEC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Обязательный HTTPS для всего веб-трафика. Отключены TLS 1.1, SSL 3.0. DNSSEC на провайдере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Мониторинг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Zeek (Bro) + Zabbix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NSM: глубокий анализ трафика в реальном времени. Zabbix: SNMP для сетевых устройств, CVE-оповещения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Защита DNS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DNSSEC + BIND9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Криптографическая верификация DNS-ответов. Локальный BIND9 с RPZ-фильтрацией вредоносных доменов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4771357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D4B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Соответствие средств защиты угрозам передачи</a:t>
            </a:r>
            <a:endParaRPr lang="en-US" sz="2200" dirty="0">
              <a:solidFill>
                <a:srgbClr val="2DD4BF"/>
              </a:solidFill>
              <a:latin typeface="Tinkoff Sans" panose="02000506050000020004" pitchFamily="2" charset="0"/>
            </a:endParaRPr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252368"/>
              </p:ext>
            </p:extLst>
          </p:nvPr>
        </p:nvGraphicFramePr>
        <p:xfrm>
          <a:off x="762000" y="5215857"/>
          <a:ext cx="14732000" cy="3356645"/>
        </p:xfrm>
        <a:graphic>
          <a:graphicData uri="http://schemas.openxmlformats.org/drawingml/2006/table">
            <a:tbl>
              <a:tblPr/>
              <a:tblGrid>
                <a:gridCol w="386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7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36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15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Угроза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Средство защиты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Механизм нейтрализации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Sniffing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TLS 1.3 (HTTPS)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 всего веб-трафика, отключение устаревших протоколов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MITM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TLS 1.3 + HSTS + DNSSEC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Принудительный HTTPS, HSTS, криптографическая верификация DNS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2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НСД к Wi-Fi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WPA3-Enterprise + RADIUS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802.1X аутентификация, изоляция VLAN 30 с ACL-правилами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IPsec IKEv2 + AES-256-GCM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 туннеля IP-пакетов, ГОСТ-шифрование для мобильных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DDoS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UserGate + Nginx + Kong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Многоуровневая защита: SYN/UDP-flood на NGFW, rate limiting на Nginx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72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бэкапов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 + VLAN 10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 на стороне агента, изоляция серверного VLAN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DNS Spoofing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DNSSEC + BIND9 (RPZ)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Криптографическая верификация DNS, фильтрация фишинговых доменов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1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Эксплуатация CVE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Zabbix + обновления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Мониторинг версий прошивок, автоматические оповещения об обновлениях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F2C383A2-5906-099A-7E29-F5D575B94586}"/>
              </a:ext>
            </a:extLst>
          </p:cNvPr>
          <p:cNvSpPr/>
          <p:nvPr/>
        </p:nvSpPr>
        <p:spPr>
          <a:xfrm>
            <a:off x="762000" y="571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ПР15 —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Выбранный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комплекс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средств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защиты</a:t>
            </a:r>
            <a:r>
              <a:rPr lang="en-US" sz="3000" b="1" dirty="0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3000" b="1" dirty="0" err="1">
                <a:solidFill>
                  <a:srgbClr val="FEFEFE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сети</a:t>
            </a:r>
            <a:endParaRPr lang="en-US" sz="3000" dirty="0">
              <a:solidFill>
                <a:srgbClr val="FEFEFE"/>
              </a:solidFill>
              <a:latin typeface="Tinkoff Sans" panose="02000506050000020004" pitchFamily="2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CAC6170D-03F5-149C-3082-839B840D32A1}"/>
              </a:ext>
            </a:extLst>
          </p:cNvPr>
          <p:cNvSpPr/>
          <p:nvPr/>
        </p:nvSpPr>
        <p:spPr>
          <a:xfrm>
            <a:off x="762000" y="11684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88959FE-28BB-A21E-F612-0F3F8096B949}"/>
              </a:ext>
            </a:extLst>
          </p:cNvPr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АСУ МТО лыжного спорта</a:t>
            </a:r>
            <a:endParaRPr lang="en-US" sz="1200" dirty="0">
              <a:latin typeface="Tinkoff Sans" panose="02000506050000020004" pitchFamily="2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7717424-D575-D927-7558-ED219C32423A}"/>
              </a:ext>
            </a:extLst>
          </p:cNvPr>
          <p:cNvSpPr/>
          <p:nvPr/>
        </p:nvSpPr>
        <p:spPr>
          <a:xfrm>
            <a:off x="13970000" y="8763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46</a:t>
            </a:r>
            <a:r>
              <a:rPr lang="en-US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 / </a:t>
            </a:r>
            <a:r>
              <a:rPr lang="ru-RU" sz="1200" dirty="0">
                <a:solidFill>
                  <a:srgbClr val="9CA3AF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016000"/>
            <a:ext cx="2540000" cy="38100"/>
          </a:xfrm>
          <a:prstGeom prst="rect">
            <a:avLst/>
          </a:prstGeom>
          <a:gradFill flip="none" rotWithShape="1">
            <a:gsLst>
              <a:gs pos="0">
                <a:srgbClr val="00E5C9">
                  <a:alpha val="0"/>
                </a:srgbClr>
              </a:gs>
              <a:gs pos="30000">
                <a:srgbClr val="00E5C9"/>
              </a:gs>
              <a:gs pos="7000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318000" y="1143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600" b="1" dirty="0">
                <a:solidFill>
                  <a:srgbClr val="E8ECF1"/>
                </a:solidFill>
                <a:latin typeface="Tinkoff Sans" panose="02000506050000020004" pitchFamily="2" charset="0"/>
                <a:ea typeface="Liter" pitchFamily="34" charset="-122"/>
                <a:cs typeface="Liter" pitchFamily="34" charset="-120"/>
              </a:rPr>
              <a:t>Заключение</a:t>
            </a:r>
            <a:endParaRPr lang="en-US" sz="3000" dirty="0">
              <a:latin typeface="Tinkoff Sans" panose="0200050605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75500" y="1968500"/>
            <a:ext cx="1905000" cy="38100"/>
          </a:xfrm>
          <a:prstGeom prst="rect">
            <a:avLst/>
          </a:prstGeom>
          <a:gradFill flip="none" rotWithShape="1">
            <a:gsLst>
              <a:gs pos="0">
                <a:srgbClr val="00E5C9">
                  <a:alpha val="0"/>
                </a:srgbClr>
              </a:gs>
              <a:gs pos="30000">
                <a:srgbClr val="00E5C9"/>
              </a:gs>
              <a:gs pos="70000">
                <a:srgbClr val="00E5C9"/>
              </a:gs>
              <a:gs pos="100000">
                <a:srgbClr val="00E5C9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477039" y="2355702"/>
            <a:ext cx="13301921" cy="503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</a:rPr>
              <a:t>В ходе выполнения проекта была спроектирована и частично реализована полноценная АСУ МТО для лыжной спортивной организации</a:t>
            </a:r>
            <a:endParaRPr lang="en-US" dirty="0">
              <a:solidFill>
                <a:srgbClr val="FEFEFE"/>
              </a:solidFill>
              <a:latin typeface="Tinkoff Sans" panose="02000506050000020004" pitchFamily="2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solidFill>
                <a:srgbClr val="FEFEFE"/>
              </a:solidFill>
              <a:latin typeface="Tinkoff Sans" panose="0200050605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2DD4BF"/>
                </a:solidFill>
              </a:rPr>
              <a:t>✔</a:t>
            </a:r>
            <a:r>
              <a:rPr lang="en-US" dirty="0"/>
              <a:t> </a:t>
            </a: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</a:rPr>
              <a:t>Определены функциональные и нефункциональные требования к системе</a:t>
            </a:r>
            <a:endParaRPr lang="en-US" sz="1800" dirty="0">
              <a:latin typeface="Tinkoff Sans" panose="0200050605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2DD4BF"/>
                </a:solidFill>
              </a:rPr>
              <a:t>✔</a:t>
            </a:r>
            <a:r>
              <a:rPr lang="en-US" dirty="0"/>
              <a:t> </a:t>
            </a: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</a:rPr>
              <a:t>Спроектирована архитектура из трёх модулей, построены UML-диаграммы</a:t>
            </a: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2DD4BF"/>
                </a:solidFill>
              </a:rPr>
              <a:t>✔</a:t>
            </a:r>
            <a:r>
              <a:rPr lang="en-US" dirty="0"/>
              <a:t> </a:t>
            </a: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</a:rPr>
              <a:t>Разработана ER-диаграмма и создана база данных под управлением PostgreSQL</a:t>
            </a: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2DD4BF"/>
                </a:solidFill>
              </a:rPr>
              <a:t>✔</a:t>
            </a:r>
            <a:r>
              <a:rPr lang="en-US" dirty="0"/>
              <a:t> </a:t>
            </a: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</a:rPr>
              <a:t>Реализован модуль прогнозирования потребности на основе экспоненциального сглаживания</a:t>
            </a: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2DD4BF"/>
                </a:solidFill>
              </a:rPr>
              <a:t>✔</a:t>
            </a:r>
            <a:r>
              <a:rPr lang="en-US" dirty="0"/>
              <a:t> </a:t>
            </a: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</a:rPr>
              <a:t>Создан веб-интерфейс для работы с базой данных и информационный портал</a:t>
            </a: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2DD4BF"/>
                </a:solidFill>
              </a:rPr>
              <a:t>✔</a:t>
            </a:r>
            <a:r>
              <a:rPr lang="en-US" dirty="0"/>
              <a:t> </a:t>
            </a: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</a:rPr>
              <a:t>Рассчитаны характеристики оборудования и развёрнут виртуальный стенд</a:t>
            </a: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2DD4BF"/>
                </a:solidFill>
              </a:rPr>
              <a:t>✔</a:t>
            </a:r>
            <a:r>
              <a:rPr lang="en-US" dirty="0"/>
              <a:t> </a:t>
            </a: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</a:rPr>
              <a:t>Проработана система информационной безопасности на уровнях рабочих станций и сети</a:t>
            </a:r>
            <a:endParaRPr lang="en-US" dirty="0">
              <a:solidFill>
                <a:srgbClr val="FEFEFE"/>
              </a:solidFill>
              <a:latin typeface="Tinkoff Sans" panose="02000506050000020004" pitchFamily="2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solidFill>
                <a:srgbClr val="FEFEFE"/>
              </a:solidFill>
              <a:latin typeface="Tinkoff Sans" panose="0200050605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FEFEFE"/>
                </a:solidFill>
                <a:latin typeface="Tinkoff Sans" panose="02000506050000020004" pitchFamily="2" charset="0"/>
              </a:rPr>
              <a:t>Проект демонстрирует полный цикл разработки АСУ — от анализа предметной области до практической реализации и защиты информации. Система готова к внедрению и масштабированию.</a:t>
            </a:r>
          </a:p>
          <a:p>
            <a:pPr algn="ctr">
              <a:lnSpc>
                <a:spcPct val="150000"/>
              </a:lnSpc>
            </a:pPr>
            <a:endParaRPr lang="en-US" sz="1800" dirty="0">
              <a:solidFill>
                <a:srgbClr val="E8ECF1"/>
              </a:solidFill>
              <a:latin typeface="Tinkoff Sans" panose="02000506050000020004" pitchFamily="2" charset="0"/>
              <a:ea typeface="QuattrocentoSans" pitchFamily="34" charset="-122"/>
              <a:cs typeface="QuattrocentoSans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588000" y="7965263"/>
            <a:ext cx="5080000" cy="12700"/>
          </a:xfrm>
          <a:prstGeom prst="rect">
            <a:avLst/>
          </a:prstGeom>
          <a:solidFill>
            <a:srgbClr val="2A2F3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413000" y="8117072"/>
            <a:ext cx="1143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Презентация подготовлена в рамках ПР16 по дисциплине «АСУ элементами промышленных и административных объектов»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83000" y="8434572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Павлов Н.С.</a:t>
            </a:r>
            <a:r>
              <a:rPr lang="en-US" sz="1600" dirty="0">
                <a:solidFill>
                  <a:srgbClr val="7A8499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| ИКБО-50-23 | РТУ МИРЭА | 2026</a:t>
            </a:r>
            <a:endParaRPr lang="en-US" sz="16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7677</Words>
  <Application>Microsoft Office PowerPoint</Application>
  <PresentationFormat>Произвольный</PresentationFormat>
  <Paragraphs>1763</Paragraphs>
  <Slides>47</Slides>
  <Notes>47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0" baseType="lpstr">
      <vt:lpstr>Arial</vt:lpstr>
      <vt:lpstr>Tinkoff 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АСУ для обеспечения инвентарем лыжного спорта</dc:title>
  <dc:subject>АСУ для обеспечения инвентарем лыжного спорта</dc:subject>
  <dc:creator>Kimi</dc:creator>
  <cp:lastModifiedBy>Никита Павлов</cp:lastModifiedBy>
  <cp:revision>48</cp:revision>
  <dcterms:created xsi:type="dcterms:W3CDTF">2026-05-12T08:31:02Z</dcterms:created>
  <dcterms:modified xsi:type="dcterms:W3CDTF">2026-05-15T10:07:47Z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{"Label":"АСУ для обеспечения инвентарем лыжного спорта","ContentProducer":"001191110108MACG2KBH8F10000","ProduceID":"19e1b4f1-74e2-8d75-8000-0000228dc57e","ReservedCode1":"","ContentPropagator":"001191110108MACG2KBH8F20000","PropagateID":"19e1b4f1-74e2-8d75-8000-0000228dc57e","ReservedCode2":""}</vt:lpwstr>
  </property>
</Properties>
</file>