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6256000" cy="9144000"/>
  <p:notesSz cx="9144000" cy="16256000"/>
  <p:embeddedFontLst>
    <p:embeddedFont>
      <p:font typeface="Tinkoff Sans" panose="02000506050000020004" pitchFamily="2" charset="0"/>
      <p:regular r:id="rId22"/>
      <p:bold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1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74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2286000"/>
            <a:ext cx="3810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540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для обеспечения инвентарем</a:t>
            </a:r>
            <a:endParaRPr lang="en-US" sz="4000" dirty="0">
              <a:latin typeface="Tinkoff Sans" panose="02000506050000020004" pitchFamily="2" charset="0"/>
            </a:endParaRPr>
          </a:p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лыжного спорта</a:t>
            </a:r>
            <a:endParaRPr lang="en-US" sz="40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23000" y="4254500"/>
            <a:ext cx="3810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2540000" y="4572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Итоговая презентация проекта по практическим работам </a:t>
            </a:r>
            <a:r>
              <a:rPr lang="en-US" sz="20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ПР11–ПР15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10000" y="5588000"/>
            <a:ext cx="863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Павлов Н.С. | Группа ИКБО-50-23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40000" y="6096000"/>
            <a:ext cx="1117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РТУ МИРЭА — Российский технологический университет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Институт информационных технологий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Кафедра информационных технологий в атомной энергетике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40000" y="7620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Дисциплина: АСУ элементами промышленных и административных объектов | ПР16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50000" y="825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Москва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Введение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811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 рамках дисциплины </a:t>
            </a: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«АСУ элементами промышленных и административных объектов»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выполнены практические работы </a:t>
            </a: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ПР11–ПР15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, в ходе которых разработан информационный web-портал, создан программный модуль с веб-интерфейсом, спроектирована схема компьютерной сети и подобраны комплексы средств защиты информации.</a:t>
            </a:r>
            <a:endParaRPr lang="en-US" sz="18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Цель этапа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— разработка клиентской части АСУП и обеспечение информационной безопасности системы.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3556000"/>
            <a:ext cx="2743200" cy="1778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683000"/>
            <a:ext cx="27432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ПР11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3600" y="4191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Информационный web-портал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59200" y="3556000"/>
            <a:ext cx="2743200" cy="1778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9" name="Text 7"/>
          <p:cNvSpPr/>
          <p:nvPr/>
        </p:nvSpPr>
        <p:spPr>
          <a:xfrm>
            <a:off x="3759200" y="3683000"/>
            <a:ext cx="27432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860800" y="4191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Программный модуль с веб-интерфейсом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56400" y="3556000"/>
            <a:ext cx="2743200" cy="1778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6756400" y="3683000"/>
            <a:ext cx="27432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0" y="4191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Схема компьютерной сети и угрозы безопасности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53600" y="3556000"/>
            <a:ext cx="2743200" cy="1778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3683000"/>
            <a:ext cx="27432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ПР14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855200" y="4191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Программные средства защиты рабочих станций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750800" y="3556000"/>
            <a:ext cx="2743200" cy="1778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750800" y="3683000"/>
            <a:ext cx="27432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52400" y="4191000"/>
            <a:ext cx="254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Средства защиты сетевой передачи данных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2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 — Выбор инструмента и структура web-портала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Сравнение подходов к разработке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338665"/>
              </p:ext>
            </p:extLst>
          </p:nvPr>
        </p:nvGraphicFramePr>
        <p:xfrm>
          <a:off x="762000" y="1841500"/>
          <a:ext cx="14732000" cy="2920998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CMS (WordPress)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Чистый HTML/CSS/JS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Время развёртывания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1–2 часа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30 минут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Требования к хостингу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PHP + MySQL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Любой веб-сервер или без него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Гибкость дизайна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Ограничена темой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Полный контроль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Зависимости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База данных, плагины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Отсутствуют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83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Размер проекта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50+ МБ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~10 КБ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95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Выбор: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Чистый HTML + CSS + JavaScript. Не требует сервера, полный контроль над дизайном, отсутствие зависимостей. Сине-белая цветовая гамма в тематике лыжного спорта.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5905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Структура web-портала (SPA)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688889"/>
              </p:ext>
            </p:extLst>
          </p:nvPr>
        </p:nvGraphicFramePr>
        <p:xfrm>
          <a:off x="762000" y="6413500"/>
          <a:ext cx="14732000" cy="19685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8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Раздел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Якорь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Содержание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Главная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#home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Hero-баннер с названием АСУ, описанием и кнопкой перехода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 системе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#about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Карточки пользователей, функции системы, преимущества автоматизации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Результаты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#results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Табы с таблицами складского учёта, график прогноза, слайдер отзывов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Контакты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#contact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Контактная информация и форма обратной связи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3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889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 — Разделы портала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Главная страница (Hero)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526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Фиксированная навигационная панель с логотипом «⛷️ АСУ МТО». Hero-баннер с градиентным фоном (тёмно-синий → голубой), заголовок, описание системы, кнопка перехода.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2895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 системе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3314700"/>
            <a:ext cx="7112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Карточки пользователей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(4 роли): Менеджер по закупкам, Кладовщик, Тренер, Руководитель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Основные функции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(6): ведение номенклатуры, управление закупками, складской учёт, контроль выдачи/возврата, прогнозирование, автоматическое списание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Преимущества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(3): экономия времени (×3), точность учёта, прогнозирование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5283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Результаты работы АСУ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57023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Табы переключения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Складской учёт (8 записей), Активные выдачи (5 записей), Прогноз потребности (диаграмма на 4 мес.)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Слайдер отзывов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3 реалистичных отзыва (кладовщик, тренер, директор), авто-смена каждые 5 сек.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749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Контакты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000" y="79121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Контактная информация организации и форма обратной связи (имя, email, сообщение).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382000" y="1333500"/>
            <a:ext cx="7112000" cy="72136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460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Файловая структура портала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36000" y="1968500"/>
            <a:ext cx="6604000" cy="6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📁 portal/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├── </a:t>
            </a:r>
            <a:r>
              <a:rPr lang="en-US" sz="1600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index.html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(разметка, ~250 строк)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├── </a:t>
            </a:r>
            <a:r>
              <a:rPr lang="en-US" sz="1600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style.css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(стили, CSS-переменные)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└── </a:t>
            </a:r>
            <a:r>
              <a:rPr lang="en-US" sz="1600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script.js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(логика, табы, слайдер)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Технологии: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CSS-переменные для темизации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JavaScript для интерактива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Адаптивный дизайн (mobile)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Размер: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~10 КБ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Зависимостей: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0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Время загрузки: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мгновенно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4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ПР11 — Результат разработки портала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Портал реализован как </a:t>
            </a: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одностраничное приложение (SPA)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 с плавной навигацией между разделами. Использованы только стандартные веб-технологии без сторонних зависимостей. Цветовая гамма — сине-белая в тематике лыжного спорта.</a:t>
            </a:r>
            <a:endParaRPr lang="en-US" sz="18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667000"/>
            <a:ext cx="4648200" cy="1651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794000"/>
            <a:ext cx="4648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3600" y="3365500"/>
            <a:ext cx="444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Файла в проекте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(index.html, style.css, script.js)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4200" y="2667000"/>
            <a:ext cx="4648200" cy="1651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9" name="Text 7"/>
          <p:cNvSpPr/>
          <p:nvPr/>
        </p:nvSpPr>
        <p:spPr>
          <a:xfrm>
            <a:off x="5664200" y="2794000"/>
            <a:ext cx="4648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~10 КБ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5800" y="3365500"/>
            <a:ext cx="444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Общий размер проекта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(против 50+ МБ для CMS)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0566400" y="2667000"/>
            <a:ext cx="4927600" cy="1651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66400" y="2794000"/>
            <a:ext cx="49276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668000" y="3365500"/>
            <a:ext cx="4724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Внешних зависимостей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(не требует сервера)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2000" y="4699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Реализованные интерактивные элементы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537485"/>
              </p:ext>
            </p:extLst>
          </p:nvPr>
        </p:nvGraphicFramePr>
        <p:xfrm>
          <a:off x="762000" y="5207000"/>
          <a:ext cx="14732000" cy="3175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27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Элемент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 реализации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2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Табы переключения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JavaScript: переключение классов active для кнопок и контента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2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Слайдер отзывов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Авто-смена каждые 5 сек + ручное переключение по точкам-индикаторам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2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Динамические таблицы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JavaScript-объекты с данными, генерация HTML строк таблиц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2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CSS-анимации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Плавные переходы hover, fade-эффекты, адаптивная вёрстка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6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Форма обратной связи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Валидация полей, имитация отправки с уведомлением пользователя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5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ПР12 — Технологии и архитектура модуля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Бэкенд: Python + FastAPI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000" y="1778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FastAPI 0.108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высокопроизводительный асинхронный фреймворк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Переиспользование кода из ПР6 (database.py, config.py)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Работа с PostgreSQL 17 (схема asu_inventory, 19 таблиц)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Автоматическая документация Swagger UI (/docs)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Uvicorn сервер + CORS middleware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SQLAlchemy 2.0 ORM + psycopg2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Фронтенд: HTML + CSS + JS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82000" y="17780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Независимость от Node.js, npm, сборщиков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Fetch API для асинхронных запросов к бэкенду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Работа в любом современном браузере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5 вкладок с динамической загрузкой данных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Toast-уведомления, skeleton-загрузка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Модальные окна для операций выдачи/возврата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2000" y="431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Архитектура модуля: 5 вкладок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337863"/>
              </p:ext>
            </p:extLst>
          </p:nvPr>
        </p:nvGraphicFramePr>
        <p:xfrm>
          <a:off x="762000" y="4800600"/>
          <a:ext cx="14732000" cy="3060702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11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Вкладка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API эндпоинты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Ключевые функции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11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📊 Дашборд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Ключевые метрики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/api/dashboard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 KPI, график категорий, таблицы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11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🏃 Спортсмены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Список спортсменов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/api/athletes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Поиск, фильтр, детальная карточка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11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📋 Выдачи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Управление выдачами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 /api/issuance/*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Выдача, возврат, проверка долгов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11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📦 Склад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Доступный инвентарь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/api/inventory/*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Таблица инвентаря с фильтрами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117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📈 Статистика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Анализ по категориям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/api/inventory/statistics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Карточки с цветовыми полосами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6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ПР12 — Дашборд и Спортсмены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Дашборд (GET /api/dashboard)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050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2000" y="24765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Спортсменов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59200" y="1841500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9" name="Text 7"/>
          <p:cNvSpPr/>
          <p:nvPr/>
        </p:nvSpPr>
        <p:spPr>
          <a:xfrm>
            <a:off x="3759200" y="19050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20+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59200" y="24765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Доступно инвентаря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56400" y="1841500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6756400" y="19050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56400" y="24765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Активных выдач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53600" y="1841500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19050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74C3C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53600" y="24765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Просрочено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750800" y="1841500"/>
            <a:ext cx="2743200" cy="1143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8" name="Text 16"/>
          <p:cNvSpPr/>
          <p:nvPr/>
        </p:nvSpPr>
        <p:spPr>
          <a:xfrm>
            <a:off x="12750800" y="1905000"/>
            <a:ext cx="27432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39C12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750800" y="2476500"/>
            <a:ext cx="2743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Должников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3175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Дашборд выполняет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7 SQL-запросов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COUNT спортсменов, доступный инвентарь, активные выдачи, просроченные (planned_return_date &lt; CURRENT_DATE), должники, распределение по категориям, последние 5 выдач, топ-5 должников.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4191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Спортсмены (GET /api/athletes)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795536"/>
              </p:ext>
            </p:extLst>
          </p:nvPr>
        </p:nvGraphicFramePr>
        <p:xfrm>
          <a:off x="762000" y="4673600"/>
          <a:ext cx="14732000" cy="3683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Функция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Техническая реализация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Поиск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Поиск по ФИО с дебаунсом 300 мс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ILIKE запрос к БД через Fetch API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Фильтр по задолженности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Переключатель «Только должники»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Фильтр has_active_debt = TRUE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Таблица спортсменов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Список с ФИО, разрядом, группой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JOIN athlete + user + group + coach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Подсветка должников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Красная строка для должников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CSS-класс по флагу has_active_debt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Детальная карточка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Модальное окно с полной инфо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/api/athletes/{id}, статистика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Skeleton-загрузка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Анимированные placeholder'ы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CSS @keyframes shimmer-эффект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Toast-уведомления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Успех / ошибка операции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Позиционирование fixed top-right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7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ПР12 — Выдачи, Склад и Статистика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Выдачи (CRUD-операции)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088253"/>
              </p:ext>
            </p:extLst>
          </p:nvPr>
        </p:nvGraphicFramePr>
        <p:xfrm>
          <a:off x="762000" y="1778000"/>
          <a:ext cx="14732000" cy="2667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Операция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API эндпоинт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SQL-действия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Бизнес-логика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Список выдач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 /api/issuance/active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SELECT с JOIN 4 таблиц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Фильтр по статусу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Выдача инвентаря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 /api/issuance/issue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INSERT + UPDATE статуса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Проверка долга и доступности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Возврат инвентаря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POST /api/issuance/return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UPDATE статуса документа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Проверка, не возвращён ли уже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Проверка связности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FOREIGN KEY constraints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Целостность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Уведомления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HTTPException (400/404)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Toast success / error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69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Склад и Статистика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5143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Склад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(GET /api/inventory/available):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Таблица доступного инвентаря со штрих-кодами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JOIN inventory_item + nomenclature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Фильтр по статусу AVAILABLE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Цветовая индикация статусов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82000" y="5143500"/>
            <a:ext cx="711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Статистика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(GET /api/inventory/statistics):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Карточки по категориям (Лыжи, Ботинки...)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GROUP BY nomenclature_category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Цветные полосы: доступен / выдан / проблемы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CSS-визуализация пропорций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" name="Shape 6"/>
          <p:cNvSpPr/>
          <p:nvPr/>
        </p:nvSpPr>
        <p:spPr>
          <a:xfrm>
            <a:off x="762000" y="7239000"/>
            <a:ext cx="14732000" cy="1206500"/>
          </a:xfrm>
          <a:prstGeom prst="roundRect">
            <a:avLst>
              <a:gd name="adj" fmla="val 3000"/>
            </a:avLst>
          </a:prstGeom>
          <a:solidFill>
            <a:srgbClr val="1E1F2B"/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7340600"/>
            <a:ext cx="1422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Результат: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Полностью функциональный веб-модуль с 5 вкладками, реализующий все CRUD-операции через REST API. Бэкенд на FastAPI обеспечивает асинхронную обработку запросов к PostgreSQL. Фронтенд на чистом JS динамически загружает данные без перезагрузки страницы.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8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Схема компьютерной сети АСУ МТО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Серверное оборудование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18050"/>
              </p:ext>
            </p:extLst>
          </p:nvPr>
        </p:nvGraphicFramePr>
        <p:xfrm>
          <a:off x="762000" y="1778000"/>
          <a:ext cx="14732000" cy="1905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Спецификация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Размещаемые компоненты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Кол-во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Основной сервер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Storm 2400, Xeon Silver 4310, 16 ГБ RAM, 2×240 ГБ SSD RAID 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Docker Compose (PostgreSQL, Spring Boot, Nginx)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аналитики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Storm 2400, Xeon Silver 4310, 16 ГБ RAM, 2×240 ГБ SSD RAID 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Python/statsmodels, ClickHouse, BI (Redash)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 резервного копирования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Storm 1300, Xeon E-2336, 8 ГБ RAM, 2×2 ТБ HDD RAID 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 / Veeam Backup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91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Клиентское и периферийное оборудование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39787"/>
              </p:ext>
            </p:extLst>
          </p:nvPr>
        </p:nvGraphicFramePr>
        <p:xfrm>
          <a:off x="762000" y="4356100"/>
          <a:ext cx="14732000" cy="2667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Спецификация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Кол-во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пользователей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DEPO Neos 300, Core i5-12400, 16 ГБ RAM, 256 ГБ SSD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Рабочие места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Getac T800, Android 11, 4 ГБ RAM, 64 ГБ eMMC, IP68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Тренеры на трассе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Терминалы сбора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TC21, Android 10, 4 ГБ RAM, 64 ГБ eMMC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Кладовщики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Принтер этикеток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Zebra ZD421, термотрансферный, Ethernet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Маркировка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Видеонаблюдение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NVR-регистратор + 4 IP-камеры (PoE)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Безопасность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 компл.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7239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Сетевое оборудование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000" y="7683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2× Коммутатор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Cisco Catalyst 9300-24T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(стек, 24×1GbE + 4×10GbE SFP+) | Межсетевой экран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UserGate C150 / Ideco UTM 150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(NGFW + VPN) |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ИБП APC Smart-UPS SRT 2200VA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5" name="Text 6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9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Логическая структура сети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38879"/>
              </p:ext>
            </p:extLst>
          </p:nvPr>
        </p:nvGraphicFramePr>
        <p:xfrm>
          <a:off x="762000" y="1397000"/>
          <a:ext cx="14732000" cy="2794001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Сегмент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Адресация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Оборудование / Участники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Внутренняя сеть организации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Коммутаторы L3, серверы,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DMZ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Демилитаризованная зона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Nginx (проброс порта 443)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10.10.10.0/24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Удалённые подключения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Тренеры, администратор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77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Серверная сеть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 сервера, репликация, бэкапы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13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20–40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192.168.56.0/24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/ Wi-Fi / Видео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10 АРМ, ТСД, камеры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4445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Распределение VLAN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2000" y="49276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5016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10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3600" y="5397500"/>
            <a:ext cx="3225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Серверы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Основной, аналитики, бэкап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45000" y="49276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0" name="Text 7"/>
          <p:cNvSpPr/>
          <p:nvPr/>
        </p:nvSpPr>
        <p:spPr>
          <a:xfrm>
            <a:off x="4445000" y="5016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20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4" name="Text 8"/>
          <p:cNvSpPr/>
          <p:nvPr/>
        </p:nvSpPr>
        <p:spPr>
          <a:xfrm>
            <a:off x="4546600" y="5397500"/>
            <a:ext cx="3225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АРМ пользователей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10 рабочих мест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128000" y="4927600"/>
            <a:ext cx="3429000" cy="1397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3" name="Text 10"/>
          <p:cNvSpPr/>
          <p:nvPr/>
        </p:nvSpPr>
        <p:spPr>
          <a:xfrm>
            <a:off x="8128000" y="5016500"/>
            <a:ext cx="342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30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29600" y="5397500"/>
            <a:ext cx="3225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Гостевая / Wi-Fi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ТСД, мобильные устройства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1811000" y="4927600"/>
            <a:ext cx="3683000" cy="1397000"/>
          </a:xfrm>
          <a:prstGeom prst="roundRect">
            <a:avLst>
              <a:gd name="adj" fmla="val 5000"/>
            </a:avLst>
          </a:prstGeom>
          <a:solidFill>
            <a:srgbClr val="1E1F2B"/>
          </a:solidFill>
          <a:ln/>
        </p:spPr>
      </p:sp>
      <p:sp>
        <p:nvSpPr>
          <p:cNvPr id="16" name="Text 13"/>
          <p:cNvSpPr/>
          <p:nvPr/>
        </p:nvSpPr>
        <p:spPr>
          <a:xfrm>
            <a:off x="11811000" y="50165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40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912600" y="5397500"/>
            <a:ext cx="34798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Видеонаблюдение</a:t>
            </a:r>
            <a:endParaRPr lang="en-US" sz="1600" dirty="0">
              <a:latin typeface="Tinkoff Sans" panose="02000506050000020004" pitchFamily="2" charset="0"/>
            </a:endParaRPr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4 IP-камеры + NVR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62000" y="6604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Ключевые особенности схемы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2000" y="70485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Управляемые коммутаторы L3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(Cisco Catalyst 9300) обеспечивают маршрутизацию между VLAN на уровне ядра сети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NGFW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защищает периметр: фильтрация трафика, VPN-шлюз, контент-фильтрация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Резервирование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RAID 1 на всех серверах, ИБП для бесперебойного питания, стек коммутаторов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Мобильный доступ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: тренеры подключаются через VPN по 4G LTE с защищённых планшетов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10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Угрозы безопасности на рабочих станциях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На АРМ хранятся и обрабатываются: учётные данные,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персональные данные спортсменов (152-ФЗ)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, коммерческая тайна, отчёты по закупкам, данные бюджетного контроля.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725382"/>
              </p:ext>
            </p:extLst>
          </p:nvPr>
        </p:nvGraphicFramePr>
        <p:xfrm>
          <a:off x="762000" y="2159000"/>
          <a:ext cx="14732000" cy="6222999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631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Источник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Последствия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Несанкционированный доступ к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 постороннего лица к АРМ без блокировки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ПДн, компрометация учётки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Заражение вредоносным ПО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Вирусы, трояны, кейлоггеры, шифровальщики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Внешний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Кража данных, потеря отчётов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Теневые IT-сервисы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Неучтённое ПО (мессенджеры, облака) сотрудниками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Сотрудник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данных за периметр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Утрата мобильного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Потеря планшета Getac T800 или ТСД Zebra TC21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Внешний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 к данным АСУ, ПДн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Несанкционированное копирование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Выгрузка данных на USB-накопитель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коммерческой тайны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46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Недостаточная очистка кэша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Хранение cookie и кэша после сеанса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Внутренний нарушитель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Повторный вход под чужой учёткой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3991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Физическое повреждение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Выход из строя SSD или БП без резервного копирования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Технический сбой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Потеря документов и отчётов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11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ПР13 — Угрозы безопасности передачи информации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 сети передаются: учётные данные, ПДн спортсменов, коммерческая информация, данные складского учёта, результаты прогнозирования, трафик резервного копирования.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911115"/>
              </p:ext>
            </p:extLst>
          </p:nvPr>
        </p:nvGraphicFramePr>
        <p:xfrm>
          <a:off x="762000" y="2095500"/>
          <a:ext cx="14732000" cy="6349999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774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Участок сети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Последствия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трафика (Sniffing)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Пассивный перехват незашифрованного HTTP-трафика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LAN,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Компрометация паролей, ПДн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MITM-атака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Активный перехват и модификация трафика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LAN, Wi-Fi, 4G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Подмена данных, кража учёток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Подключение постороннего устройства к корп.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Wi-Fi (VLAN 30)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Доступ к внутренним ресурсам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Атака на VPN-туннель при подключении тренеров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Интернет, 4G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учётных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DDoS-атака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Массированная отправка запросов к Nginx/Spring Boot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Интернет → DMZ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Недоступность АСУ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бэкапов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каналу передачи бэкапов между серверами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 (серверная)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Утечка полной копии БД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335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 Spoofing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Подмена DNS-записей для перенаправления на фишинг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Интернет, DNS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Фишинг учётных данных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75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Эксплуатация CVE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Использование уязвимостей прошивок Cisco/UserGate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LAN, периметр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над инфраструктурой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12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ПР14 — Анализ защищаемой информации и платформы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5 категорий защищаемой информации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427515"/>
              </p:ext>
            </p:extLst>
          </p:nvPr>
        </p:nvGraphicFramePr>
        <p:xfrm>
          <a:off x="762000" y="1778000"/>
          <a:ext cx="14732000" cy="2679701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2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Содержание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Уровень защиты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3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Персональные 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ФИО, год рождения, контакты, спортивный разряд спортсменов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152-ФЗ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3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Коммерческая тайна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ИНН, КПП, банковские реквизиты, договорные цены поставщиков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32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Финансовая информация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Лимиты финансирования, фактические расходы, планы закупок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2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Учётные 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Логины, пароли, сессионные ключи пользователей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Критичный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83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Отчёты и аналитика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ОСВ, прогнозы, оборотно-сальдовые ведомости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Средний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4508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Платформа рабочих станций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705358"/>
              </p:ext>
            </p:extLst>
          </p:nvPr>
        </p:nvGraphicFramePr>
        <p:xfrm>
          <a:off x="762000" y="4953000"/>
          <a:ext cx="14732000" cy="1778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Параметр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(стационарные)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ТСД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Common Edition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Android 11 (Getac T800)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Android 10 (Zebra TC21)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Ключевое ПО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Chromium, LibreOffice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Chromium (PWA)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Сканер штрих-кодов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Хранимые 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Кэш браузера, отчёты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Кэш PWA, офлайн-данные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Штрих-коды, статусы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6985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Пользователи АРМ: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Менеджеры по закупкам, кладовщики, тренеры, руководитель, бухгалтер, администратор — всего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10 стационарных АРМ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Мобильные пользователи: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Тренеры (3 планшета Getac T800) работают на удалённых трассах через VPN по 4G LTE.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Требование импортозамещения: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Все ОС и ПО из реестра отечественного ПО или сертифицированы ФСТЭК.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13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ПР14 — Обзор программных средств защиты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Антивирусная защита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323771"/>
              </p:ext>
            </p:extLst>
          </p:nvPr>
        </p:nvGraphicFramePr>
        <p:xfrm>
          <a:off x="762000" y="1752600"/>
          <a:ext cx="14732000" cy="1536699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Kaspersky ES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Dr.Web Enterprise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ClamAV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Сертификация ФСТЭК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(НДВ-4, СКЗИ)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(НДВ-4)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6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Типы анализа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Сигнатурный + эвристический + поведенческий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Сигнатурный + эвристический + поведенческий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Только сигнатурный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от шифровальщиков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(Anti-Ransomware)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 (Process Heuristic)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340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СЗИ от НСД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412496"/>
              </p:ext>
            </p:extLst>
          </p:nvPr>
        </p:nvGraphicFramePr>
        <p:xfrm>
          <a:off x="762000" y="3759200"/>
          <a:ext cx="14732000" cy="1536699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Secret Net Studio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Dallas Lock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6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Уровень контроля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 (мандатный)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Средний (дискреционный)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Высокий (мандатный + дискреционный)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Замкнутая ПС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8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USB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53467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MDM-решения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089642"/>
              </p:ext>
            </p:extLst>
          </p:nvPr>
        </p:nvGraphicFramePr>
        <p:xfrm>
          <a:off x="762000" y="5765800"/>
          <a:ext cx="7112000" cy="1397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SafeMobile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Workspace ONE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Intune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Сертификация ФСТЭК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Импортозамещение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Удалённое стирание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382000" y="53467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DLP-решения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987157"/>
              </p:ext>
            </p:extLst>
          </p:nvPr>
        </p:nvGraphicFramePr>
        <p:xfrm>
          <a:off x="8382000" y="5765800"/>
          <a:ext cx="7112000" cy="1397000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Solar Dozor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InfoWatch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USB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Контроль печати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Совместимость с Astra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14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ПР14 — Выбранный комплекс средств защиты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366979"/>
              </p:ext>
            </p:extLst>
          </p:nvPr>
        </p:nvGraphicFramePr>
        <p:xfrm>
          <a:off x="762000" y="1371600"/>
          <a:ext cx="14732000" cy="35560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Выбранное средство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 выбора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Антивирус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Kaspersky Endpoint Security для Linux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Сертифицирован ФСТЭК (НДВ-4), совместим с Astra Linux, централизованное управление, защита от шифровальщиков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СЗИ НСД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SE + Secret Net Studio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Встроенный СЗИ (мандатный + дискреционный). Secret Net Studio для АРМ руководителя и бухгалтера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MDM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SafeMobile (Код Безопасности)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Сертифицирован ФСТЭК, реестр отечественного ПО, удалённая блокировка/стирание, шифрование, геолокация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DLP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 DLP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Сертифицирован ФСТЭК, контроль USB-портов, печати и сетевых каналов, минимальное потребление ресурсов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Аутентификация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Keycloak (Open Source)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SSO, MFA (двухфакторная аутентификация), ролевая модель, аудит событий входа — уже в составе АСУ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Резервное копирование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Автоматическое резервное копирование пользовательских данных АРМ по расписанию на сервер бэкапа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14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Соответствие средств защиты угрозам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6970"/>
              </p:ext>
            </p:extLst>
          </p:nvPr>
        </p:nvGraphicFramePr>
        <p:xfrm>
          <a:off x="762000" y="5588000"/>
          <a:ext cx="14732000" cy="3086102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0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Средство защиты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Механизм нейтрализации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АРМ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Astra Linux SE + Keycloak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экрана (5 мин), MFA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62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Вредоносное ПО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Kaspersky Endpoint Security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Сигнатурный + эвристический + поведенческий анализ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Теневые IT-сервисы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 DLP + NGFW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облаков и мессенджеров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Утрата мобильного устройства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SafeMobile (MDM)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FBE, удалённое стирание, геолокация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Несанкционированное копирование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DeviceLock DLP + Secret Net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Блокировка USB, аудит выгрузки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7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Недостаточная очистка кэша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Chromium + Keycloak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Автоочистка кэша, HttpOnly/Secure cookie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62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Физическое повреждение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Автоматическое резервное копирование по расписанию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15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ПР15 — Защищаемые каналы передачи данных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68025"/>
              </p:ext>
            </p:extLst>
          </p:nvPr>
        </p:nvGraphicFramePr>
        <p:xfrm>
          <a:off x="762000" y="1397000"/>
          <a:ext cx="14732000" cy="3937001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927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Канал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Тип трафика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Технология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Участники обмена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Веб-интерфейс АСУ,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HTTPS (TCP/443), IPsec/SSL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NGFW ↔ Интернет, тренеры (VPN)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LAN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HTTP-запросы к API, SQL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HTTP/HTTPS (TCP), SQL (TCP/5432)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АРМ ↔ Серверы, Сервер ↔ Сервер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Бэкапы БД, репликация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Bacula/Veeam (TCP), NFS/SSH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Серверы ↔ Сервер бэкапа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30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PWA-приложение, синхронизация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HTTPS (TCP/443), Wi-Fi 5 (802.11ac)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ТСД ↔ Точка доступа ↔ Коммутатор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Веб-интерфейс, выгрузка отчётов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 / SSL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Тренеры (Getac T800) ↔ NGFW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117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VLAN 40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Видеопоток, запись на NVR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RTSP (TCP/UDP)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IP-камеры ↔ NVR-регистратор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58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Ключевые особенности каналов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2000" y="6032500"/>
            <a:ext cx="14732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WAN (внешний периметр)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единственная точка входа извне, защищается NGFW с фильтрацией L3–L7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LAN (внутренняя сеть)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изолирована от WAN, межсерверное взаимодействие через управляемые коммутаторы L3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10 (серверная)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критически важный сегмент с наиболее строгими правилами доступа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30 (Wi-Fi)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гостевой сегмент для мобильных устройств с ограниченными правами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VPN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шифрованные туннели для удалённых тренеров, работающих на лыжных трассах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6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VLAN 40 (видеонаблюдение)</a:t>
            </a:r>
            <a:r>
              <a:rPr lang="en-US" sz="16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изолированный сегмент, не пересекается с производственным трафиком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16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ПР15 — Обзор средств защиты сети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NGFW-решения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101455"/>
              </p:ext>
            </p:extLst>
          </p:nvPr>
        </p:nvGraphicFramePr>
        <p:xfrm>
          <a:off x="762000" y="1752600"/>
          <a:ext cx="14732000" cy="1397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C150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Ideco UTM 150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ViPNet Coordinator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Пропускная способность 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Пропускная способность IPS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300 Мбит/с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VPN-производительность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300 Мбит/с (IPsec)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200 Мбит/с (IPsec)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200 Мбит/с (IPsec)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3340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IDS/IPS-решения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72819"/>
              </p:ext>
            </p:extLst>
          </p:nvPr>
        </p:nvGraphicFramePr>
        <p:xfrm>
          <a:off x="762000" y="3759200"/>
          <a:ext cx="14732000" cy="1397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3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Snort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Континент-АП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Производительность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 10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 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до 1 Гбит/с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Сертификация ФСТЭК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 (Open Source)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 (Open Source)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Стоимость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Бесплатно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Бесплатно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Платная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53467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VPN-решения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34857"/>
              </p:ext>
            </p:extLst>
          </p:nvPr>
        </p:nvGraphicFramePr>
        <p:xfrm>
          <a:off x="762000" y="5765800"/>
          <a:ext cx="7112000" cy="1397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StrongSwan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OpenVPN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ViPNet Client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Протокол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SSL/TLS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ГОСТ 28147-89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Импортозамещение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382000" y="53467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Защита Wi-Fi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6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299080"/>
              </p:ext>
            </p:extLst>
          </p:nvPr>
        </p:nvGraphicFramePr>
        <p:xfrm>
          <a:off x="8382000" y="5765800"/>
          <a:ext cx="7112000" cy="16637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906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WPA3-Ent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WPA2-Ent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WPA2-PSK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0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AES-CCMP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AES-CCMP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от перебора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Полная (Dragonfly)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Частичная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Отсутствует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44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Рекомендация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Настоятельно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Базовый уровень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Устарел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17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ПР15 — Выбранный комплекс средств защиты сети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762000" cy="38100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93457"/>
              </p:ext>
            </p:extLst>
          </p:nvPr>
        </p:nvGraphicFramePr>
        <p:xfrm>
          <a:off x="762000" y="1371600"/>
          <a:ext cx="14732000" cy="3721103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39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Выбранное средство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 выбора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NGFW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C150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ФСТЭК, L3–L7, IPS/IDS, VPN, контент-фильтрация, DDoS. 1 Гбит/с покрывает 50 пользователей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IDS/IPS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Встроенный IPS + Suricata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Базовая сигнатурная защита + ML-анализ аномалий трафика (доп. сенсор)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VPN + StrongSwan + ViPNet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 + AES-256-GCM для тренеров. ViPNet (ГОСТ) для мобильных. StrongSwan для серверов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WPA3-Enterprise + FreeRADIUS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AES-256-GCMP, защита Dragonfly, PMF. 802.1X через RADIUS интегрирован с Keycloak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TLS 1.3 (HTTPS) + DNSSEC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Обязательный HTTPS для всего веб-трафика. Отключены TLS 1.1, SSL 3.0. DNSSEC на провайдере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Zeek (Bro) + Zabbix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NSM: глубокий анализ трафика в реальном времени. Zabbix: SNMP для сетевых устройств, CVE-оповещения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59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Защита DNS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DNSSEC + BIND9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Криптографическая верификация DNS-ответов. Локальный BIND9 с RPZ-фильтрацией вредоносных доменов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5143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Соответствие средств защиты угрозам передачи</a:t>
            </a:r>
            <a:endParaRPr lang="en-US" sz="2200" dirty="0">
              <a:latin typeface="Tinkoff Sans" panose="02000506050000020004" pitchFamily="2" charset="0"/>
            </a:endParaRPr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203073"/>
              </p:ext>
            </p:extLst>
          </p:nvPr>
        </p:nvGraphicFramePr>
        <p:xfrm>
          <a:off x="762000" y="5588000"/>
          <a:ext cx="14732000" cy="3810000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№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Угроза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Средство защиты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14161F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Механизм нейтрализации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Sniffing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TLS 1.3 (HTTPS)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всего веб-трафика, отключение устаревших протоколов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MITM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TLS 1.3 + HSTS + DNSSEC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Принудительный HTTPS, HSTS, криптографическая верификация DNS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НСД к Wi-Fi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WPA3-Enterprise + RADIUS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802.1X аутентификация, изоляция VLAN 30 с ACL-правилами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VPN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IPsec IKEv2 + AES-256-GCM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туннеля IP-пакетов, ГОСТ-шифрование для мобильных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DDoS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UserGate + Nginx + Kong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Многоуровневая защита: SYN/UDP-flood на NGFW, rate limiting на Nginx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Перехват бэкапов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Bacula + VLAN 10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Шифрование на стороне агента, изоляция серверного VLAN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 Spoofing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DNSSEC + BIND9 (RPZ)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Криптографическая верификация DNS, фильтрация фишинговых доменов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Эксплуатация CVE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Zabbix + обновления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E8E8E8"/>
                          </a:solidFill>
                          <a:latin typeface="Tinkoff Sans" panose="02000506050000020004" pitchFamily="2" charset="0"/>
                          <a:ea typeface="QuattrocentoSans" pitchFamily="34" charset="-122"/>
                          <a:cs typeface="QuattrocentoSans" pitchFamily="34" charset="-120"/>
                        </a:rPr>
                        <a:t>Мониторинг версий прошивок, автоматические оповещения об обновлениях</a:t>
                      </a:r>
                      <a:endParaRPr lang="en-US" sz="1500" dirty="0">
                        <a:latin typeface="Tinkoff Sans" panose="02000506050000020004" pitchFamily="2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62000" y="876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АСУ элементами промышленных и административных объектов</a:t>
            </a:r>
            <a:endParaRPr lang="en-US" sz="1400" dirty="0">
              <a:latin typeface="Tinkoff Sans" panose="02000506050000020004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3716000" y="8763000"/>
            <a:ext cx="177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400" dirty="0">
                <a:solidFill>
                  <a:srgbClr val="888888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18 / 19</a:t>
            </a:r>
            <a:endParaRPr lang="en-US" sz="14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23000" y="1016000"/>
            <a:ext cx="3810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0" y="1270000"/>
            <a:ext cx="1117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00D4AA"/>
                </a:solidFill>
                <a:latin typeface="Tinkoff Sans" panose="02000506050000020004" pitchFamily="2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3200" dirty="0">
              <a:latin typeface="Tinkoff Sans" panose="0200050605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23000" y="2006600"/>
            <a:ext cx="3810000" cy="381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286000"/>
            <a:ext cx="1371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В рамках практических работ </a:t>
            </a: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ПР11–ПР15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выполнено: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ПР11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разработан информационный web-портал (HTML/CSS/JS, SPA, 4 раздела, ~10 КБ)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ПР12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создан программный модуль с веб-интерфейсом (FastAPI, 5 вкладок, полный CRUD)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ПР13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спроектирована схема компьютерной сети и выявлены угрозы безопасности (15 угроз)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ПР14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подобран комплекс программных средств защиты рабочих станций (6 средств)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00D4AA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ПР15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— подобран комплекс средств защиты сетевой передачи (7 средств)</a:t>
            </a:r>
            <a:endParaRPr lang="en-US" sz="1600" dirty="0">
              <a:latin typeface="Tinkoff Sans" panose="02000506050000020004" pitchFamily="2" charset="0"/>
            </a:endParaRPr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Презентация подготовлена в рамках </a:t>
            </a:r>
            <a:r>
              <a:rPr lang="en-US" sz="1800" b="1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ПР16</a:t>
            </a:r>
            <a:r>
              <a:rPr lang="en-US" sz="1800" dirty="0">
                <a:solidFill>
                  <a:srgbClr val="E8E8E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 по дисциплине «АСУ элементами промышленных и административных объектов»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10000" y="7239000"/>
            <a:ext cx="863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Павлов Н.С. | ИКБО-50-23 | РТУ МИРЭА |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40000" y="7874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Дисциплина: АСУ элементами промышленных и административных объектов | ПР16</a:t>
            </a:r>
            <a:endParaRPr lang="en-US" sz="1600" dirty="0">
              <a:latin typeface="Tinkoff Sans" panose="0200050605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50000" y="8382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888888"/>
                </a:solidFill>
                <a:latin typeface="Tinkoff Sans" panose="02000506050000020004" pitchFamily="2" charset="0"/>
                <a:ea typeface="Quattrocento Sans" pitchFamily="34" charset="-122"/>
                <a:cs typeface="Quattrocento Sans" pitchFamily="34" charset="-120"/>
              </a:rPr>
              <a:t>Москва 2026</a:t>
            </a:r>
            <a:endParaRPr lang="en-US" sz="1600" dirty="0">
              <a:latin typeface="Tinkoff Sans" panose="02000506050000020004" pitchFamily="2" charset="0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3453</Words>
  <Application>Microsoft Office PowerPoint</Application>
  <PresentationFormat>Произвольный</PresentationFormat>
  <Paragraphs>823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Tinkoff 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АСУ для обеспечения инвентарем лыжного спорта — ПР11–ПР15</dc:title>
  <dc:subject>АСУ для обеспечения инвентарем лыжного спорта — ПР11–ПР15</dc:subject>
  <dc:creator>Kimi</dc:creator>
  <cp:lastModifiedBy>Никита Павлов</cp:lastModifiedBy>
  <cp:revision>2</cp:revision>
  <dcterms:created xsi:type="dcterms:W3CDTF">2026-05-14T15:45:52Z</dcterms:created>
  <dcterms:modified xsi:type="dcterms:W3CDTF">2026-05-14T15:53:56Z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{"Label":"АСУ для обеспечения инвентарем лыжного спорта — ПР11–ПР15","ContentProducer":"001191110108MACG2KBH8F10000","ProduceID":"19e2728d-5b82-890c-8000-0000303c0609","ReservedCode1":"","ContentPropagator":"001191110108MACG2KBH8F20000","PropagateID":"19e2728d-5b82-890c-8000-0000303c0609","ReservedCode2":""}</vt:lpwstr>
  </property>
</Properties>
</file>